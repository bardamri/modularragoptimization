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6b1907c-2e5d-6cc8-9df1-7380a97afc92}">
          <p14:sldIdLst>
            <p14:sldId id="256"/>
          </p14:sldIdLst>
        </p14:section>
        <p14:section name="Background" id="{883b8a1e-9b76-417f-e755-36bca8d43ed9}">
          <p14:sldIdLst>
            <p14:sldId id="257"/>
            <p14:sldId id="258"/>
            <p14:sldId id="259"/>
            <p14:sldId id="260"/>
          </p14:sldIdLst>
        </p14:section>
        <p14:section name="Phase 1: benchmark and preliminary results" id="{b4e388bb-edd2-6f76-432a-7895c778382b}">
          <p14:sldIdLst>
            <p14:sldId id="261"/>
            <p14:sldId id="262"/>
            <p14:sldId id="263"/>
            <p14:sldId id="264"/>
          </p14:sldIdLst>
        </p14:section>
        <p14:section name="Research plan" id="{6aff8423-9c63-d822-a907-3bc503e1d270}">
          <p14:sldIdLst>
            <p14:sldId id="265"/>
            <p14:sldId id="266"/>
            <p14:sldId id="267"/>
            <p14:sldId id="268"/>
            <p14:sldId id="269"/>
          </p14:sldIdLst>
        </p14:section>
        <p14:section name="Closing" id="{b923617d-40d5-36fc-534e-2b95dfc2ff1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633"/>
                </a:solidFill>
                <a:latin typeface="+mn-lt"/>
              </a:defRPr>
            </a:pPr>
            <a:r>
              <a:rPr sz="1200" b="0" i="0" u="none" strike="noStrike">
                <a:solidFill>
                  <a:srgbClr val="1E2633"/>
                </a:solidFill>
                <a:latin typeface="+mn-lt"/>
              </a:rPr>
              <a:t>Mean distance to the correct answer, by judge score</a:t>
            </a:r>
          </a:p>
        </c:rich>
      </c:tx>
      <c:layout/>
      <c:overlay val="0"/>
    </c:title>
    <c:autoTitleDeleted val="0"/>
    <c:plotArea>
      <c:layout/>
      <c:barChart>
        <c:barDir val="col"/>
        <c:grouping val="clustered"/>
        <c:varyColors val="0"/>
        <c:ser>
          <c:idx val="0"/>
          <c:order val="0"/>
          <c:tx>
            <c:strRef>
              <c:f>Sheet1!$B$1</c:f>
              <c:strCache>
                <c:ptCount val="1"/>
                <c:pt idx="0">
                  <c:v>Mean distance to the correct answer</c:v>
                </c:pt>
              </c:strCache>
            </c:strRef>
          </c:tx>
          <c:spPr>
            <a:solidFill>
              <a:srgbClr val="1B3D6E"/>
            </a:solidFill>
            <a:effectLst/>
          </c:spPr>
          <c:invertIfNegative val="0"/>
          <c:dLbls>
            <c:numFmt formatCode="0.00" sourceLinked="0"/>
            <c:txPr>
              <a:bodyPr/>
              <a:lstStyle/>
              <a:p>
                <a:pPr>
                  <a:defRPr b="0" i="0" strike="noStrike" sz="1000" u="none">
                    <a:solidFill>
                      <a:srgbClr val="1E2633"/>
                    </a:solidFill>
                    <a:latin typeface="+mn-lt"/>
                  </a:defRPr>
                </a:pPr>
              </a:p>
            </c:txPr>
            <c:showLegendKey val="0"/>
            <c:showVal val="1"/>
            <c:showCatName val="0"/>
            <c:showSerName val="0"/>
            <c:showPercent val="0"/>
            <c:showBubbleSize val="0"/>
            <c:showLeaderLines val="0"/>
          </c:dLbls>
          <c:cat>
            <c:multiLvlStrRef>
              <c:f>Sheet1!$A$2:$A$7</c:f>
              <c:multiLvlStrCache>
                <c:ptCount val="6"/>
                <c:lvl>
                  <c:pt idx="0">
                    <c:v>0.1</c:v>
                  </c:pt>
                  <c:pt idx="1">
                    <c:v>0.2</c:v>
                  </c:pt>
                  <c:pt idx="2">
                    <c:v>0.4</c:v>
                  </c:pt>
                  <c:pt idx="3">
                    <c:v>0.6</c:v>
                  </c:pt>
                  <c:pt idx="4">
                    <c:v>0.8</c:v>
                  </c:pt>
                  <c:pt idx="5">
                    <c:v>1.0</c:v>
                  </c:pt>
                </c:lvl>
              </c:multiLvlStrCache>
            </c:multiLvlStrRef>
          </c:cat>
          <c:val>
            <c:numRef>
              <c:f>Sheet1!$B$2:$B$7</c:f>
              <c:numCache>
                <c:formatCode>General</c:formatCode>
                <c:ptCount val="6"/>
                <c:pt idx="0">
                  <c:v>0.89</c:v>
                </c:pt>
                <c:pt idx="1">
                  <c:v>0.84</c:v>
                </c:pt>
                <c:pt idx="2">
                  <c:v>0.77</c:v>
                </c:pt>
                <c:pt idx="3">
                  <c:v>0.63</c:v>
                </c:pt>
                <c:pt idx="4">
                  <c:v>0.4</c:v>
                </c:pt>
                <c:pt idx="5">
                  <c:v>0.22</c:v>
                </c:pt>
              </c:numCache>
            </c:numRef>
          </c:val>
        </c:ser>
        <c:dLbls>
          <c:numFmt formatCode="0.00" sourceLinked="0"/>
          <c:txPr>
            <a:bodyPr/>
            <a:lstStyle/>
            <a:p>
              <a:pPr>
                <a:defRPr b="0" i="0" strike="noStrike" sz="1000" u="none">
                  <a:solidFill>
                    <a:srgbClr val="1E26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7A90"/>
                    </a:solidFill>
                    <a:latin typeface="+mn-lt"/>
                  </a:defRPr>
                </a:pPr>
                <a:r>
                  <a:rPr sz="1000" b="0" i="0" u="none" strike="noStrike">
                    <a:solidFill>
                      <a:srgbClr val="6B7A90"/>
                    </a:solidFill>
                    <a:latin typeface="+mn-lt"/>
                  </a:rPr>
                  <a:t>Judge score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6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7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90"/>
                </a:solidFill>
                <a:latin typeface="+mn-lt"/>
              </a:defRPr>
            </a:pPr>
            <a:endParaRPr lang="en-US"/>
          </a:p>
        </c:txPr>
        <c:crossAx val="2094734554"/>
        <c:crosses val="autoZero"/>
        <c:crossBetween val="between"/>
        <c:majorUnit val="0.2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program and the supervisors. One sentence: this talk presents the proposal and the preliminary results that motivate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RAG pipeline. The retrieval step is the bottleneck: the generator can never fix a retrieval miss. Lewis 2020; Shi 2023 on distractors.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bi-encoder, cosine similarity and nearest-neighbor search in one breath. The anchor is the concept the whole talk works on: rewriting and feedback methods move it; re-rankers never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facts describe the space as a whole (Ethayarajh 2019 on the narrow cone; Radovanovic 2010 on hubs; Li 2021 and Dong 2022 on question/document placement). The per-question picture is missing. The LLM judge is the instrument that lets us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geometry is the goal (as in the title). The LLM judge is an instrument, the biomedical collection is the benchmark. Each goal already has a first result behind it, shown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Biomedical is the benchmark, not the object of study: chosen because the question-document gap is largest there (BEIR, BioASQ, MedCPT). Exhaustive judging turns every retrieval method into an offline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Trilateration plot of question 37: distances to the question (red star) and to the correct answer (green diamond) are exact. Red circle: everything inside is returned before the correct answer by the standard retriever. Blue circle: the same construction around the centroid C of the documents scored 1.0. Numbers are means over 196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cosine distance from the correct answer, by judge score. Monotone in every step and negative within every one of the 196 questions (Spearman median -0.29). The judge is a good instrument but cannot replace geometry: about 17 documents per question tie 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H1 gains one point; everything stronger loses. Of the 58 questions B1 fails, 46 return a document the judge scores 1.0 first. Exact and soft success are reported side by side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 Phase 2, RQ2 = Phase 3, RQ3 = Phase 4. Generalization to TREC-COVID and MS MARCO is validation inside each phase, not a separate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use only the question and pool embeddings, never a label. Baselines: no-feature predictor and coherence-based query-performance predictors (Vlachou and Macdonald 2024). The predictor then gates Phases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k inspections the anchor moves once. Rocchio uses a fixed fraction lambda; we set lambda per question from support and spread, and the Phase 2 predictor gates which questions move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question through the loop. Each design decision answers a flaw of the first prototype (fixed alpha, moved after the first relevant hit): 3.29 to 4.55 inspections on average. All parameters are swept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largely done; its open item is implementing ReDE-RF, TOUR and HyDE as baselines. The phases overlap because all run on the same offline benchmark; nothing waits for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thesis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3D6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822960"/>
            <a:ext cx="7863840" cy="320040"/>
          </a:xfrm>
          <a:prstGeom prst="rect">
            <a:avLst/>
          </a:prstGeom>
          <a:noFill/>
          <a:ln/>
        </p:spPr>
        <p:txBody>
          <a:bodyPr wrap="square" rtlCol="0"/>
          <a:lstStyle>
            <a:lvl1pPr indent="0" marL="0">
              <a:buNone/>
              <a:defRPr lang="en-US" sz="1200" b="1" spc="3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640080" y="1097280"/>
            <a:ext cx="7680960" cy="182880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4" name="Text 0"/>
          <p:cNvSpPr/>
          <p:nvPr>
            <p:ph idx="102" type="body" hasCustomPrompt="1"/>
          </p:nvPr>
        </p:nvSpPr>
        <p:spPr>
          <a:xfrm>
            <a:off x="640080" y="3154680"/>
            <a:ext cx="7680960" cy="146304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rtlCol="0"/>
          <a:lstStyle>
            <a:lvl1pPr indent="0" marL="0">
              <a:buNone/>
              <a:defRPr lang="en-US" sz="1100" b="1" spc="300" kern="0" dirty="0">
                <a:solidFill>
                  <a:schemeClr val="accent6"/>
                </a:solidFill>
              </a:defRPr>
            </a:lvl1pPr>
          </a:lstStyle>
          <a:p>
            <a:pPr indent="0" marL="0">
              <a:buNone/>
            </a:pP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rtlCol="0"/>
          <a:lstStyle>
            <a:lvl1pPr indent="0" marL="0">
              <a:buNone/>
              <a:defRPr lang="en-US" sz="2600" b="1" dirty="0">
                <a:solidFill>
                  <a:schemeClr val="accent1"/>
                </a:solidFill>
              </a:defRPr>
            </a:lvl1pPr>
          </a:lstStyle>
          <a:p>
            <a:pPr indent="0" marL="0">
              <a:buNone/>
            </a:pPr>
            <a:endParaRPr lang="en-US" sz="2600" dirty="0"/>
          </a:p>
        </p:txBody>
      </p:sp>
      <p:sp>
        <p:nvSpPr>
          <p:cNvPr id="4"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Bar Mordechai Damri  ·  Research proposal  ·  BGU</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822960"/>
            <a:ext cx="7863840" cy="320040"/>
          </a:xfrm>
          <a:prstGeom prst="rect">
            <a:avLst/>
          </a:prstGeom>
          <a:noFill/>
          <a:ln/>
        </p:spPr>
        <p:txBody>
          <a:bodyPr wrap="square" lIns="0" tIns="0" rIns="0" bIns="0" rtlCol="0"/>
          <a:lstStyle/>
          <a:p>
            <a:pPr indent="0" marL="0">
              <a:buNone/>
            </a:pPr>
            <a:r>
              <a:rPr lang="en-US" sz="1200" b="1" spc="300" kern="0" dirty="0">
                <a:solidFill>
                  <a:schemeClr val="accent6"/>
                </a:solidFill>
              </a:rPr>
              <a:t>M.SC. RESEARCH PROPOSAL  ·  SEMINAR</a:t>
            </a:r>
            <a:endParaRPr lang="en-US" sz="1200" dirty="0"/>
          </a:p>
        </p:txBody>
      </p:sp>
      <p:sp>
        <p:nvSpPr>
          <p:cNvPr id="3" name="Text 0"/>
          <p:cNvSpPr/>
          <p:nvPr>
            <p:ph idx="101" type="title" hasCustomPrompt="1"/>
          </p:nvPr>
        </p:nvSpPr>
        <p:spPr>
          <a:xfrm>
            <a:off x="640080" y="1097280"/>
            <a:ext cx="7680960" cy="1828800"/>
          </a:xfrm>
          <a:prstGeom prst="rect">
            <a:avLst/>
          </a:prstGeom>
          <a:noFill/>
          <a:ln/>
        </p:spPr>
        <p:txBody>
          <a:bodyPr wrap="square" lIns="0" tIns="0" rIns="0" bIns="0" rtlCol="0" anchor="t"/>
          <a:lstStyle/>
          <a:p>
            <a:pPr indent="0" marL="0">
              <a:buNone/>
            </a:pPr>
            <a:r>
              <a:rPr lang="en-US" sz="3400" b="1" dirty="0">
                <a:solidFill>
                  <a:schemeClr val="bg1"/>
                </a:solidFill>
              </a:rPr>
              <a:t>Embedding Geometric Heuristics for Improving RAG Systems</a:t>
            </a:r>
            <a:endParaRPr lang="en-US" sz="3400" dirty="0"/>
          </a:p>
        </p:txBody>
      </p:sp>
      <p:sp>
        <p:nvSpPr>
          <p:cNvPr id="4" name="Text 0"/>
          <p:cNvSpPr/>
          <p:nvPr>
            <p:ph idx="102" type="body" hasCustomPrompt="1"/>
          </p:nvPr>
        </p:nvSpPr>
        <p:spPr>
          <a:xfrm>
            <a:off x="640080" y="3154680"/>
            <a:ext cx="7680960" cy="1463040"/>
          </a:xfrm>
          <a:prstGeom prst="rect">
            <a:avLst/>
          </a:prstGeom>
          <a:noFill/>
          <a:ln/>
        </p:spPr>
        <p:txBody>
          <a:bodyPr wrap="square" lIns="0" tIns="0" rIns="0" bIns="0" rtlCol="0" anchor="t"/>
          <a:lstStyle/>
          <a:p>
            <a:pPr indent="0" marL="0">
              <a:buNone/>
            </a:pPr>
            <a:r>
              <a:rPr lang="en-US" sz="1800" b="1" dirty="0">
                <a:solidFill>
                  <a:schemeClr val="bg1"/>
                </a:solidFill>
              </a:rPr>
              <a:t>Bar Mordechai Damri</a:t>
            </a:r>
            <a:endParaRPr lang="en-US" sz="1600" dirty="0"/>
          </a:p>
          <a:p>
            <a:pPr indent="0" marL="0">
              <a:buNone/>
            </a:pPr>
            <a:r>
              <a:rPr lang="en-US" sz="1300" dirty="0">
                <a:solidFill>
                  <a:srgbClr val="B9C4D6"/>
                </a:solidFill>
              </a:rPr>
              <a:t>The Stein Faculty of Computer and Information Science, Ben-Gurion University of the Negev</a:t>
            </a:r>
            <a:endParaRPr lang="en-US" sz="1600" dirty="0"/>
          </a:p>
          <a:p>
            <a:pPr indent="0" marL="0">
              <a:buNone/>
            </a:pPr>
            <a:r>
              <a:rPr lang="en-US" sz="800" dirty="0">
                <a:solidFill>
                  <a:schemeClr val="bg1"/>
                </a:solidFill>
              </a:rPr>
              <a:t> </a:t>
            </a:r>
            <a:endParaRPr lang="en-US" sz="1600" dirty="0"/>
          </a:p>
          <a:p>
            <a:pPr indent="0" marL="0">
              <a:buNone/>
            </a:pPr>
            <a:r>
              <a:rPr lang="en-US" sz="1400" dirty="0">
                <a:solidFill>
                  <a:schemeClr val="bg1"/>
                </a:solidFill>
              </a:rPr>
              <a:t>Supervisors: Prof. Roni Stern  ·  Prof. Rami Puzis</a:t>
            </a:r>
            <a:endParaRPr lang="en-US" sz="1600" dirty="0"/>
          </a:p>
          <a:p>
            <a:pPr indent="0" marL="0">
              <a:buNone/>
            </a:pPr>
            <a:r>
              <a:rPr lang="en-US" sz="1200" dirty="0">
                <a:solidFill>
                  <a:srgbClr val="8FA0BA"/>
                </a:solidFill>
              </a:rPr>
              <a:t>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WHAT IS RAG</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A RAG answer is only as good as its retriever</a:t>
            </a:r>
            <a:endParaRPr lang="en-US" sz="2600" dirty="0"/>
          </a:p>
        </p:txBody>
      </p:sp>
      <p:sp>
        <p:nvSpPr>
          <p:cNvPr id="5" name="card Indexer"/>
          <p:cNvSpPr/>
          <p:nvPr/>
        </p:nvSpPr>
        <p:spPr>
          <a:xfrm>
            <a:off x="457200" y="1325880"/>
            <a:ext cx="2560320" cy="1737360"/>
          </a:xfrm>
          <a:prstGeom prst="roundRect">
            <a:avLst>
              <a:gd name="adj" fmla="val 4211"/>
            </a:avLst>
          </a:prstGeom>
          <a:solidFill>
            <a:schemeClr val="bg2"/>
          </a:solidFill>
          <a:ln w="9525">
            <a:solidFill>
              <a:schemeClr val="bg2"/>
            </a:solidFill>
            <a:prstDash val="solid"/>
          </a:ln>
        </p:spPr>
      </p:sp>
      <p:sp>
        <p:nvSpPr>
          <p:cNvPr id="6" name="card head"/>
          <p:cNvSpPr txBox="1"/>
          <p:nvPr/>
        </p:nvSpPr>
        <p:spPr>
          <a:xfrm>
            <a:off x="594360" y="1435608"/>
            <a:ext cx="2286000" cy="274320"/>
          </a:xfrm>
          <a:prstGeom prst="rect">
            <a:avLst/>
          </a:prstGeom>
          <a:noFill/>
          <a:ln/>
        </p:spPr>
        <p:txBody>
          <a:bodyPr wrap="square" lIns="0" tIns="0" rIns="0" bIns="0" rtlCol="0" anchor="ctr"/>
          <a:lstStyle/>
          <a:p>
            <a:pPr indent="0" marL="0">
              <a:buNone/>
            </a:pPr>
            <a:r>
              <a:rPr lang="en-US" sz="1300" b="1" dirty="0">
                <a:solidFill>
                  <a:schemeClr val="accent1"/>
                </a:solidFill>
              </a:rPr>
              <a:t>Indexer</a:t>
            </a:r>
            <a:endParaRPr lang="en-US" sz="1300" dirty="0"/>
          </a:p>
        </p:txBody>
      </p:sp>
      <p:sp>
        <p:nvSpPr>
          <p:cNvPr id="7" name="card body"/>
          <p:cNvSpPr txBox="1"/>
          <p:nvPr/>
        </p:nvSpPr>
        <p:spPr>
          <a:xfrm>
            <a:off x="594360" y="1737360"/>
            <a:ext cx="2286000" cy="123444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Runs once in advance. Turns every document into an embedding, a vector of numbers that captures its meaning, and stores the vectors.</a:t>
            </a:r>
            <a:endParaRPr lang="en-US" sz="1250" dirty="0"/>
          </a:p>
        </p:txBody>
      </p:sp>
      <p:sp>
        <p:nvSpPr>
          <p:cNvPr id="8" name="circle 1"/>
          <p:cNvSpPr/>
          <p:nvPr/>
        </p:nvSpPr>
        <p:spPr>
          <a:xfrm>
            <a:off x="2514600" y="1417320"/>
            <a:ext cx="329184" cy="329184"/>
          </a:xfrm>
          <a:prstGeom prst="ellipse">
            <a:avLst/>
          </a:prstGeom>
          <a:solidFill>
            <a:schemeClr val="accent1"/>
          </a:solidFill>
          <a:ln w="12700">
            <a:solidFill>
              <a:schemeClr val="accent1"/>
            </a:solidFill>
            <a:prstDash val="solid"/>
          </a:ln>
        </p:spPr>
      </p:sp>
      <p:sp>
        <p:nvSpPr>
          <p:cNvPr id="9" name="circle label"/>
          <p:cNvSpPr txBox="1"/>
          <p:nvPr/>
        </p:nvSpPr>
        <p:spPr>
          <a:xfrm>
            <a:off x="2514600" y="141732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 name="arrow"/>
          <p:cNvSpPr/>
          <p:nvPr/>
        </p:nvSpPr>
        <p:spPr>
          <a:xfrm>
            <a:off x="3054096" y="2057400"/>
            <a:ext cx="201168" cy="274320"/>
          </a:xfrm>
          <a:prstGeom prst="rightArrow">
            <a:avLst/>
          </a:prstGeom>
          <a:solidFill>
            <a:schemeClr val="accent5"/>
          </a:solidFill>
          <a:ln w="12700">
            <a:solidFill>
              <a:schemeClr val="accent5"/>
            </a:solidFill>
            <a:prstDash val="solid"/>
          </a:ln>
        </p:spPr>
      </p:sp>
      <p:sp>
        <p:nvSpPr>
          <p:cNvPr id="11" name="card Retriever"/>
          <p:cNvSpPr/>
          <p:nvPr/>
        </p:nvSpPr>
        <p:spPr>
          <a:xfrm>
            <a:off x="3291840" y="1325880"/>
            <a:ext cx="2560320" cy="1737360"/>
          </a:xfrm>
          <a:prstGeom prst="roundRect">
            <a:avLst>
              <a:gd name="adj" fmla="val 4211"/>
            </a:avLst>
          </a:prstGeom>
          <a:solidFill>
            <a:schemeClr val="bg2"/>
          </a:solidFill>
          <a:ln w="9525">
            <a:solidFill>
              <a:schemeClr val="bg2"/>
            </a:solidFill>
            <a:prstDash val="solid"/>
          </a:ln>
        </p:spPr>
      </p:sp>
      <p:sp>
        <p:nvSpPr>
          <p:cNvPr id="12" name="card head"/>
          <p:cNvSpPr txBox="1"/>
          <p:nvPr/>
        </p:nvSpPr>
        <p:spPr>
          <a:xfrm>
            <a:off x="3429000" y="1435608"/>
            <a:ext cx="2286000" cy="274320"/>
          </a:xfrm>
          <a:prstGeom prst="rect">
            <a:avLst/>
          </a:prstGeom>
          <a:noFill/>
          <a:ln/>
        </p:spPr>
        <p:txBody>
          <a:bodyPr wrap="square" lIns="0" tIns="0" rIns="0" bIns="0" rtlCol="0" anchor="ctr"/>
          <a:lstStyle/>
          <a:p>
            <a:pPr indent="0" marL="0">
              <a:buNone/>
            </a:pPr>
            <a:r>
              <a:rPr lang="en-US" sz="1300" b="1" dirty="0">
                <a:solidFill>
                  <a:schemeClr val="accent1"/>
                </a:solidFill>
              </a:rPr>
              <a:t>Retriever</a:t>
            </a:r>
            <a:endParaRPr lang="en-US" sz="1300" dirty="0"/>
          </a:p>
        </p:txBody>
      </p:sp>
      <p:sp>
        <p:nvSpPr>
          <p:cNvPr id="13" name="card body"/>
          <p:cNvSpPr txBox="1"/>
          <p:nvPr/>
        </p:nvSpPr>
        <p:spPr>
          <a:xfrm>
            <a:off x="3429000" y="1737360"/>
            <a:ext cx="2286000" cy="123444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Runs for every question. Embeds the question the same way and returns the documents whose vectors are closest to it.</a:t>
            </a:r>
            <a:endParaRPr lang="en-US" sz="1250" dirty="0"/>
          </a:p>
        </p:txBody>
      </p:sp>
      <p:sp>
        <p:nvSpPr>
          <p:cNvPr id="14" name="circle 2"/>
          <p:cNvSpPr/>
          <p:nvPr/>
        </p:nvSpPr>
        <p:spPr>
          <a:xfrm>
            <a:off x="5349240" y="1417320"/>
            <a:ext cx="329184" cy="329184"/>
          </a:xfrm>
          <a:prstGeom prst="ellipse">
            <a:avLst/>
          </a:prstGeom>
          <a:solidFill>
            <a:schemeClr val="accent2"/>
          </a:solidFill>
          <a:ln w="12700">
            <a:solidFill>
              <a:schemeClr val="accent2"/>
            </a:solidFill>
            <a:prstDash val="solid"/>
          </a:ln>
        </p:spPr>
      </p:sp>
      <p:sp>
        <p:nvSpPr>
          <p:cNvPr id="15" name="circle label"/>
          <p:cNvSpPr txBox="1"/>
          <p:nvPr/>
        </p:nvSpPr>
        <p:spPr>
          <a:xfrm>
            <a:off x="5349240" y="141732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arrow"/>
          <p:cNvSpPr/>
          <p:nvPr/>
        </p:nvSpPr>
        <p:spPr>
          <a:xfrm>
            <a:off x="5888736" y="2057400"/>
            <a:ext cx="201168" cy="274320"/>
          </a:xfrm>
          <a:prstGeom prst="rightArrow">
            <a:avLst/>
          </a:prstGeom>
          <a:solidFill>
            <a:schemeClr val="accent5"/>
          </a:solidFill>
          <a:ln w="12700">
            <a:solidFill>
              <a:schemeClr val="accent5"/>
            </a:solidFill>
            <a:prstDash val="solid"/>
          </a:ln>
        </p:spPr>
      </p:sp>
      <p:sp>
        <p:nvSpPr>
          <p:cNvPr id="17" name="card Generator"/>
          <p:cNvSpPr/>
          <p:nvPr/>
        </p:nvSpPr>
        <p:spPr>
          <a:xfrm>
            <a:off x="6126480" y="1325880"/>
            <a:ext cx="2560320" cy="1737360"/>
          </a:xfrm>
          <a:prstGeom prst="roundRect">
            <a:avLst>
              <a:gd name="adj" fmla="val 4211"/>
            </a:avLst>
          </a:prstGeom>
          <a:solidFill>
            <a:schemeClr val="bg2"/>
          </a:solidFill>
          <a:ln w="9525">
            <a:solidFill>
              <a:schemeClr val="bg2"/>
            </a:solidFill>
            <a:prstDash val="solid"/>
          </a:ln>
        </p:spPr>
      </p:sp>
      <p:sp>
        <p:nvSpPr>
          <p:cNvPr id="18" name="card head"/>
          <p:cNvSpPr txBox="1"/>
          <p:nvPr/>
        </p:nvSpPr>
        <p:spPr>
          <a:xfrm>
            <a:off x="6263640" y="1435608"/>
            <a:ext cx="2286000" cy="274320"/>
          </a:xfrm>
          <a:prstGeom prst="rect">
            <a:avLst/>
          </a:prstGeom>
          <a:noFill/>
          <a:ln/>
        </p:spPr>
        <p:txBody>
          <a:bodyPr wrap="square" lIns="0" tIns="0" rIns="0" bIns="0" rtlCol="0" anchor="ctr"/>
          <a:lstStyle/>
          <a:p>
            <a:pPr indent="0" marL="0">
              <a:buNone/>
            </a:pPr>
            <a:r>
              <a:rPr lang="en-US" sz="1300" b="1" dirty="0">
                <a:solidFill>
                  <a:schemeClr val="accent1"/>
                </a:solidFill>
              </a:rPr>
              <a:t>Generator</a:t>
            </a:r>
            <a:endParaRPr lang="en-US" sz="1300" dirty="0"/>
          </a:p>
        </p:txBody>
      </p:sp>
      <p:sp>
        <p:nvSpPr>
          <p:cNvPr id="19" name="card body"/>
          <p:cNvSpPr txBox="1"/>
          <p:nvPr/>
        </p:nvSpPr>
        <p:spPr>
          <a:xfrm>
            <a:off x="6263640" y="1737360"/>
            <a:ext cx="2286000" cy="123444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The language model. Receives the question with the retrieved documents and writes the answer from them.</a:t>
            </a:r>
            <a:endParaRPr lang="en-US" sz="1250" dirty="0"/>
          </a:p>
        </p:txBody>
      </p:sp>
      <p:sp>
        <p:nvSpPr>
          <p:cNvPr id="20" name="circle 3"/>
          <p:cNvSpPr/>
          <p:nvPr/>
        </p:nvSpPr>
        <p:spPr>
          <a:xfrm>
            <a:off x="8183880" y="1417320"/>
            <a:ext cx="329184" cy="329184"/>
          </a:xfrm>
          <a:prstGeom prst="ellipse">
            <a:avLst/>
          </a:prstGeom>
          <a:solidFill>
            <a:schemeClr val="accent1"/>
          </a:solidFill>
          <a:ln w="12700">
            <a:solidFill>
              <a:schemeClr val="accent1"/>
            </a:solidFill>
            <a:prstDash val="solid"/>
          </a:ln>
        </p:spPr>
      </p:sp>
      <p:sp>
        <p:nvSpPr>
          <p:cNvPr id="21" name="circle label"/>
          <p:cNvSpPr txBox="1"/>
          <p:nvPr/>
        </p:nvSpPr>
        <p:spPr>
          <a:xfrm>
            <a:off x="8183880" y="141732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embedding note"/>
          <p:cNvSpPr txBox="1"/>
          <p:nvPr/>
        </p:nvSpPr>
        <p:spPr>
          <a:xfrm>
            <a:off x="457200" y="3246120"/>
            <a:ext cx="8229600" cy="685800"/>
          </a:xfrm>
          <a:prstGeom prst="rect">
            <a:avLst/>
          </a:prstGeom>
          <a:noFill/>
          <a:ln/>
        </p:spPr>
        <p:txBody>
          <a:bodyPr wrap="square" lIns="0" tIns="0" rIns="0" bIns="0" rtlCol="0" anchor="t"/>
          <a:lstStyle/>
          <a:p>
            <a:pPr indent="0" marL="0">
              <a:buNone/>
            </a:pPr>
            <a:r>
              <a:rPr lang="en-US" sz="1300" b="1" dirty="0">
                <a:solidFill>
                  <a:schemeClr val="tx1"/>
                </a:solidFill>
              </a:rPr>
              <a:t>Embedding. </a:t>
            </a:r>
            <a:pPr indent="0" marL="0">
              <a:buNone/>
            </a:pPr>
            <a:r>
              <a:rPr lang="en-US" sz="1300" dirty="0">
                <a:solidFill>
                  <a:schemeClr val="tx1"/>
                </a:solidFill>
              </a:rPr>
              <a:t>Texts with similar meaning get similar vectors. Each question and each document is one point in a 768-dimensional space, and the retriever returns the nearest points.</a:t>
            </a:r>
            <a:endParaRPr lang="en-US" sz="1300" dirty="0"/>
          </a:p>
        </p:txBody>
      </p:sp>
      <p:sp>
        <p:nvSpPr>
          <p:cNvPr id="23" name="takeaway"/>
          <p:cNvSpPr/>
          <p:nvPr/>
        </p:nvSpPr>
        <p:spPr>
          <a:xfrm>
            <a:off x="457200" y="4023360"/>
            <a:ext cx="8229600" cy="594360"/>
          </a:xfrm>
          <a:prstGeom prst="roundRect">
            <a:avLst>
              <a:gd name="adj" fmla="val 12308"/>
            </a:avLst>
          </a:prstGeom>
          <a:solidFill>
            <a:srgbClr val="1B3D6E"/>
          </a:solidFill>
          <a:ln w="9525">
            <a:solidFill>
              <a:srgbClr val="1B3D6E"/>
            </a:solidFill>
            <a:prstDash val="solid"/>
          </a:ln>
        </p:spPr>
      </p:sp>
      <p:sp>
        <p:nvSpPr>
          <p:cNvPr id="24" name="takeaway text"/>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300" dirty="0">
                <a:solidFill>
                  <a:schemeClr val="bg1"/>
                </a:solidFill>
              </a:rPr>
              <a:t>If the right document is not retrieved, the generator cannot answer correctly, and irrelevant documents push it toward wrong answers. The retriever is an upper bound on the whole system.</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HOW RETRIEVERS SEARCH</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Every retriever searches from an anchor</a:t>
            </a:r>
            <a:endParaRPr lang="en-US" sz="2600" dirty="0"/>
          </a:p>
        </p:txBody>
      </p:sp>
      <p:sp>
        <p:nvSpPr>
          <p:cNvPr id="5" name="anchor definition"/>
          <p:cNvSpPr txBox="1"/>
          <p:nvPr/>
        </p:nvSpPr>
        <p:spPr>
          <a:xfrm>
            <a:off x="457200" y="1280160"/>
            <a:ext cx="4206240" cy="1828800"/>
          </a:xfrm>
          <a:prstGeom prst="rect">
            <a:avLst/>
          </a:prstGeom>
          <a:noFill/>
          <a:ln/>
        </p:spPr>
        <p:txBody>
          <a:bodyPr wrap="square" lIns="0" tIns="0" rIns="0" bIns="0" rtlCol="0" anchor="t"/>
          <a:lstStyle/>
          <a:p>
            <a:pPr indent="0" marL="0">
              <a:buNone/>
            </a:pPr>
            <a:r>
              <a:rPr lang="en-US" sz="1350" dirty="0">
                <a:solidFill>
                  <a:schemeClr val="tx1"/>
                </a:solidFill>
              </a:rPr>
              <a:t>A </a:t>
            </a:r>
            <a:pPr indent="0" marL="0">
              <a:buNone/>
            </a:pPr>
            <a:r>
              <a:rPr lang="en-US" sz="1350" b="1" dirty="0">
                <a:solidFill>
                  <a:schemeClr val="tx1"/>
                </a:solidFill>
              </a:rPr>
              <a:t>bi-encoder</a:t>
            </a:r>
            <a:pPr indent="0" marL="0">
              <a:buNone/>
            </a:pPr>
            <a:r>
              <a:rPr lang="en-US" sz="1350" dirty="0">
                <a:solidFill>
                  <a:schemeClr val="tx1"/>
                </a:solidFill>
              </a:rPr>
              <a:t> embeds the question and each document separately, scales every vector to length 1, and ranks documents by </a:t>
            </a:r>
            <a:pPr indent="0" marL="0">
              <a:buNone/>
            </a:pPr>
            <a:r>
              <a:rPr lang="en-US" sz="1350" b="1" dirty="0">
                <a:solidFill>
                  <a:schemeClr val="tx1"/>
                </a:solidFill>
              </a:rPr>
              <a:t>cosine similarity</a:t>
            </a:r>
            <a:pPr indent="0" marL="0">
              <a:buNone/>
            </a:pPr>
            <a:r>
              <a:rPr lang="en-US" sz="1350" dirty="0">
                <a:solidFill>
                  <a:schemeClr val="tx1"/>
                </a:solidFill>
              </a:rPr>
              <a:t>: the cosine of the angle between the two vectors.</a:t>
            </a:r>
            <a:endParaRPr lang="en-US" sz="1350" dirty="0"/>
          </a:p>
          <a:p>
            <a:pPr indent="0" marL="0">
              <a:buNone/>
            </a:pPr>
            <a:r>
              <a:rPr lang="en-US" sz="600" dirty="0">
                <a:solidFill>
                  <a:schemeClr val="tx1"/>
                </a:solidFill>
              </a:rPr>
              <a:t> </a:t>
            </a:r>
            <a:endParaRPr lang="en-US" sz="1350" dirty="0"/>
          </a:p>
          <a:p>
            <a:pPr indent="0" marL="0">
              <a:buNone/>
            </a:pPr>
            <a:r>
              <a:rPr lang="en-US" sz="1350" dirty="0">
                <a:solidFill>
                  <a:schemeClr val="tx1"/>
                </a:solidFill>
              </a:rPr>
              <a:t>The point the search runs from is the </a:t>
            </a:r>
            <a:pPr indent="0" marL="0">
              <a:buNone/>
            </a:pPr>
            <a:r>
              <a:rPr lang="en-US" sz="1350" b="1" dirty="0">
                <a:solidFill>
                  <a:schemeClr val="accent2"/>
                </a:solidFill>
              </a:rPr>
              <a:t>search anchor</a:t>
            </a:r>
            <a:pPr indent="0" marL="0">
              <a:buNone/>
            </a:pPr>
            <a:r>
              <a:rPr lang="en-US" sz="1350" dirty="0">
                <a:solidFill>
                  <a:schemeClr val="tx1"/>
                </a:solidFill>
              </a:rPr>
              <a:t>. In a standard retriever the anchor is the question itself. The whole design assumes a question lands close to the documents that answer it.</a:t>
            </a:r>
            <a:endParaRPr lang="en-US" sz="1350" dirty="0"/>
          </a:p>
        </p:txBody>
      </p:sp>
      <p:sp>
        <p:nvSpPr>
          <p:cNvPr id="6" name="anchor circle"/>
          <p:cNvSpPr/>
          <p:nvPr/>
        </p:nvSpPr>
        <p:spPr>
          <a:xfrm>
            <a:off x="5943600" y="1280160"/>
            <a:ext cx="1920240" cy="1920240"/>
          </a:xfrm>
          <a:prstGeom prst="ellipse">
            <a:avLst/>
          </a:prstGeom>
          <a:solidFill>
            <a:schemeClr val="bg2"/>
          </a:solidFill>
          <a:ln w="12700">
            <a:solidFill>
              <a:schemeClr val="accent1"/>
            </a:solidFill>
            <a:prstDash val="dash"/>
          </a:ln>
        </p:spPr>
      </p:sp>
      <p:sp>
        <p:nvSpPr>
          <p:cNvPr id="7" name="doc dot 0"/>
          <p:cNvSpPr/>
          <p:nvPr/>
        </p:nvSpPr>
        <p:spPr>
          <a:xfrm>
            <a:off x="6345936" y="1865376"/>
            <a:ext cx="109728" cy="109728"/>
          </a:xfrm>
          <a:prstGeom prst="ellipse">
            <a:avLst/>
          </a:prstGeom>
          <a:solidFill>
            <a:schemeClr val="accent1"/>
          </a:solidFill>
          <a:ln w="12700">
            <a:solidFill>
              <a:schemeClr val="accent1"/>
            </a:solidFill>
            <a:prstDash val="solid"/>
          </a:ln>
        </p:spPr>
      </p:sp>
      <p:sp>
        <p:nvSpPr>
          <p:cNvPr id="8" name="doc dot 1"/>
          <p:cNvSpPr/>
          <p:nvPr/>
        </p:nvSpPr>
        <p:spPr>
          <a:xfrm>
            <a:off x="7214616" y="1636776"/>
            <a:ext cx="109728" cy="109728"/>
          </a:xfrm>
          <a:prstGeom prst="ellipse">
            <a:avLst/>
          </a:prstGeom>
          <a:solidFill>
            <a:schemeClr val="accent1"/>
          </a:solidFill>
          <a:ln w="12700">
            <a:solidFill>
              <a:schemeClr val="accent1"/>
            </a:solidFill>
            <a:prstDash val="solid"/>
          </a:ln>
        </p:spPr>
      </p:sp>
      <p:sp>
        <p:nvSpPr>
          <p:cNvPr id="9" name="doc dot 2"/>
          <p:cNvSpPr/>
          <p:nvPr/>
        </p:nvSpPr>
        <p:spPr>
          <a:xfrm>
            <a:off x="7488936" y="2459736"/>
            <a:ext cx="109728" cy="109728"/>
          </a:xfrm>
          <a:prstGeom prst="ellipse">
            <a:avLst/>
          </a:prstGeom>
          <a:solidFill>
            <a:schemeClr val="accent1"/>
          </a:solidFill>
          <a:ln w="12700">
            <a:solidFill>
              <a:schemeClr val="accent1"/>
            </a:solidFill>
            <a:prstDash val="solid"/>
          </a:ln>
        </p:spPr>
      </p:sp>
      <p:sp>
        <p:nvSpPr>
          <p:cNvPr id="10" name="doc dot 3"/>
          <p:cNvSpPr/>
          <p:nvPr/>
        </p:nvSpPr>
        <p:spPr>
          <a:xfrm>
            <a:off x="6665976" y="2779776"/>
            <a:ext cx="109728" cy="109728"/>
          </a:xfrm>
          <a:prstGeom prst="ellipse">
            <a:avLst/>
          </a:prstGeom>
          <a:solidFill>
            <a:schemeClr val="accent1"/>
          </a:solidFill>
          <a:ln w="12700">
            <a:solidFill>
              <a:schemeClr val="accent1"/>
            </a:solidFill>
            <a:prstDash val="solid"/>
          </a:ln>
        </p:spPr>
      </p:sp>
      <p:sp>
        <p:nvSpPr>
          <p:cNvPr id="11" name="doc dot 4"/>
          <p:cNvSpPr/>
          <p:nvPr/>
        </p:nvSpPr>
        <p:spPr>
          <a:xfrm>
            <a:off x="6117336" y="2642616"/>
            <a:ext cx="109728" cy="109728"/>
          </a:xfrm>
          <a:prstGeom prst="ellipse">
            <a:avLst/>
          </a:prstGeom>
          <a:solidFill>
            <a:schemeClr val="accent1"/>
          </a:solidFill>
          <a:ln w="12700">
            <a:solidFill>
              <a:schemeClr val="accent1"/>
            </a:solidFill>
            <a:prstDash val="solid"/>
          </a:ln>
        </p:spPr>
      </p:sp>
      <p:sp>
        <p:nvSpPr>
          <p:cNvPr id="12" name="doc dot 5"/>
          <p:cNvSpPr/>
          <p:nvPr/>
        </p:nvSpPr>
        <p:spPr>
          <a:xfrm>
            <a:off x="7991856" y="1362456"/>
            <a:ext cx="109728" cy="109728"/>
          </a:xfrm>
          <a:prstGeom prst="ellipse">
            <a:avLst/>
          </a:prstGeom>
          <a:solidFill>
            <a:schemeClr val="accent5"/>
          </a:solidFill>
          <a:ln w="12700">
            <a:solidFill>
              <a:schemeClr val="accent5"/>
            </a:solidFill>
            <a:prstDash val="solid"/>
          </a:ln>
        </p:spPr>
      </p:sp>
      <p:sp>
        <p:nvSpPr>
          <p:cNvPr id="13" name="doc dot 6"/>
          <p:cNvSpPr/>
          <p:nvPr/>
        </p:nvSpPr>
        <p:spPr>
          <a:xfrm>
            <a:off x="8129016" y="2871216"/>
            <a:ext cx="109728" cy="109728"/>
          </a:xfrm>
          <a:prstGeom prst="ellipse">
            <a:avLst/>
          </a:prstGeom>
          <a:solidFill>
            <a:schemeClr val="accent5"/>
          </a:solidFill>
          <a:ln w="12700">
            <a:solidFill>
              <a:schemeClr val="accent5"/>
            </a:solidFill>
            <a:prstDash val="solid"/>
          </a:ln>
        </p:spPr>
      </p:sp>
      <p:sp>
        <p:nvSpPr>
          <p:cNvPr id="14" name="doc dot 7"/>
          <p:cNvSpPr/>
          <p:nvPr/>
        </p:nvSpPr>
        <p:spPr>
          <a:xfrm>
            <a:off x="5522976" y="1545336"/>
            <a:ext cx="109728" cy="109728"/>
          </a:xfrm>
          <a:prstGeom prst="ellipse">
            <a:avLst/>
          </a:prstGeom>
          <a:solidFill>
            <a:schemeClr val="accent5"/>
          </a:solidFill>
          <a:ln w="12700">
            <a:solidFill>
              <a:schemeClr val="accent5"/>
            </a:solidFill>
            <a:prstDash val="solid"/>
          </a:ln>
        </p:spPr>
      </p:sp>
      <p:sp>
        <p:nvSpPr>
          <p:cNvPr id="15" name="doc dot 8"/>
          <p:cNvSpPr/>
          <p:nvPr/>
        </p:nvSpPr>
        <p:spPr>
          <a:xfrm>
            <a:off x="5477256" y="3008376"/>
            <a:ext cx="109728" cy="109728"/>
          </a:xfrm>
          <a:prstGeom prst="ellipse">
            <a:avLst/>
          </a:prstGeom>
          <a:solidFill>
            <a:schemeClr val="accent5"/>
          </a:solidFill>
          <a:ln w="12700">
            <a:solidFill>
              <a:schemeClr val="accent5"/>
            </a:solidFill>
            <a:prstDash val="solid"/>
          </a:ln>
        </p:spPr>
      </p:sp>
      <p:sp>
        <p:nvSpPr>
          <p:cNvPr id="16" name="doc dot 9"/>
          <p:cNvSpPr/>
          <p:nvPr/>
        </p:nvSpPr>
        <p:spPr>
          <a:xfrm>
            <a:off x="6940296" y="950976"/>
            <a:ext cx="109728" cy="109728"/>
          </a:xfrm>
          <a:prstGeom prst="ellipse">
            <a:avLst/>
          </a:prstGeom>
          <a:solidFill>
            <a:schemeClr val="accent5"/>
          </a:solidFill>
          <a:ln w="12700">
            <a:solidFill>
              <a:schemeClr val="accent5"/>
            </a:solidFill>
            <a:prstDash val="solid"/>
          </a:ln>
        </p:spPr>
      </p:sp>
      <p:sp>
        <p:nvSpPr>
          <p:cNvPr id="17" name="doc dot 10"/>
          <p:cNvSpPr/>
          <p:nvPr/>
        </p:nvSpPr>
        <p:spPr>
          <a:xfrm>
            <a:off x="7763256" y="3419856"/>
            <a:ext cx="109728" cy="109728"/>
          </a:xfrm>
          <a:prstGeom prst="ellipse">
            <a:avLst/>
          </a:prstGeom>
          <a:solidFill>
            <a:schemeClr val="accent5"/>
          </a:solidFill>
          <a:ln w="12700">
            <a:solidFill>
              <a:schemeClr val="accent5"/>
            </a:solidFill>
            <a:prstDash val="solid"/>
          </a:ln>
        </p:spPr>
      </p:sp>
      <p:sp>
        <p:nvSpPr>
          <p:cNvPr id="18" name="anchor star"/>
          <p:cNvSpPr/>
          <p:nvPr/>
        </p:nvSpPr>
        <p:spPr>
          <a:xfrm>
            <a:off x="6775704" y="2112264"/>
            <a:ext cx="256032" cy="256032"/>
          </a:xfrm>
          <a:prstGeom prst="star5">
            <a:avLst/>
          </a:prstGeom>
          <a:solidFill>
            <a:schemeClr val="accent2"/>
          </a:solidFill>
          <a:ln w="12700">
            <a:solidFill>
              <a:schemeClr val="accent2"/>
            </a:solidFill>
            <a:prstDash val="solid"/>
          </a:ln>
        </p:spPr>
      </p:sp>
      <p:sp>
        <p:nvSpPr>
          <p:cNvPr id="19" name="anchor label"/>
          <p:cNvSpPr txBox="1"/>
          <p:nvPr/>
        </p:nvSpPr>
        <p:spPr>
          <a:xfrm>
            <a:off x="7040880" y="2194560"/>
            <a:ext cx="731520" cy="228600"/>
          </a:xfrm>
          <a:prstGeom prst="rect">
            <a:avLst/>
          </a:prstGeom>
          <a:noFill/>
          <a:ln/>
        </p:spPr>
        <p:txBody>
          <a:bodyPr wrap="square" lIns="0" tIns="0" rIns="0" bIns="0" rtlCol="0" anchor="ctr"/>
          <a:lstStyle/>
          <a:p>
            <a:pPr indent="0" marL="0">
              <a:buNone/>
            </a:pPr>
            <a:r>
              <a:rPr lang="en-US" sz="1000" b="1" dirty="0">
                <a:solidFill>
                  <a:schemeClr val="accent2"/>
                </a:solidFill>
              </a:rPr>
              <a:t>anchor</a:t>
            </a:r>
            <a:endParaRPr lang="en-US" sz="1000" dirty="0"/>
          </a:p>
        </p:txBody>
      </p:sp>
      <p:sp>
        <p:nvSpPr>
          <p:cNvPr id="20" name="diagram caption"/>
          <p:cNvSpPr txBox="1"/>
          <p:nvPr/>
        </p:nvSpPr>
        <p:spPr>
          <a:xfrm>
            <a:off x="5120640" y="3291840"/>
            <a:ext cx="3566160" cy="228600"/>
          </a:xfrm>
          <a:prstGeom prst="rect">
            <a:avLst/>
          </a:prstGeom>
          <a:noFill/>
          <a:ln/>
        </p:spPr>
        <p:txBody>
          <a:bodyPr wrap="square" lIns="0" tIns="0" rIns="0" bIns="0" rtlCol="0" anchor="ctr"/>
          <a:lstStyle/>
          <a:p>
            <a:pPr algn="ctr" indent="0" marL="0">
              <a:buNone/>
            </a:pPr>
            <a:r>
              <a:rPr lang="en-US" sz="1000" i="1" dirty="0">
                <a:solidFill>
                  <a:schemeClr val="accent5"/>
                </a:solidFill>
              </a:rPr>
              <a:t>returned: the nearest points to the anchor</a:t>
            </a:r>
            <a:endParaRPr lang="en-US" sz="1000" dirty="0"/>
          </a:p>
        </p:txBody>
      </p:sp>
      <p:sp>
        <p:nvSpPr>
          <p:cNvPr id="21" name="card Methods that move the anchor"/>
          <p:cNvSpPr/>
          <p:nvPr/>
        </p:nvSpPr>
        <p:spPr>
          <a:xfrm>
            <a:off x="457200" y="3291840"/>
            <a:ext cx="4206240" cy="1371600"/>
          </a:xfrm>
          <a:prstGeom prst="roundRect">
            <a:avLst>
              <a:gd name="adj" fmla="val 5333"/>
            </a:avLst>
          </a:prstGeom>
          <a:solidFill>
            <a:schemeClr val="bg2"/>
          </a:solidFill>
          <a:ln w="9525">
            <a:solidFill>
              <a:schemeClr val="bg2"/>
            </a:solidFill>
            <a:prstDash val="solid"/>
          </a:ln>
        </p:spPr>
      </p:sp>
      <p:sp>
        <p:nvSpPr>
          <p:cNvPr id="22" name="card head"/>
          <p:cNvSpPr txBox="1"/>
          <p:nvPr/>
        </p:nvSpPr>
        <p:spPr>
          <a:xfrm>
            <a:off x="594360" y="3401568"/>
            <a:ext cx="3931920" cy="274320"/>
          </a:xfrm>
          <a:prstGeom prst="rect">
            <a:avLst/>
          </a:prstGeom>
          <a:noFill/>
          <a:ln/>
        </p:spPr>
        <p:txBody>
          <a:bodyPr wrap="square" lIns="0" tIns="0" rIns="0" bIns="0" rtlCol="0" anchor="ctr"/>
          <a:lstStyle/>
          <a:p>
            <a:pPr indent="0" marL="0">
              <a:buNone/>
            </a:pPr>
            <a:r>
              <a:rPr lang="en-US" sz="1300" b="1" dirty="0">
                <a:solidFill>
                  <a:schemeClr val="accent1"/>
                </a:solidFill>
              </a:rPr>
              <a:t>Methods that move the anchor</a:t>
            </a:r>
            <a:endParaRPr lang="en-US" sz="1300" dirty="0"/>
          </a:p>
        </p:txBody>
      </p:sp>
      <p:sp>
        <p:nvSpPr>
          <p:cNvPr id="23" name="card body"/>
          <p:cNvSpPr txBox="1"/>
          <p:nvPr/>
        </p:nvSpPr>
        <p:spPr>
          <a:xfrm>
            <a:off x="594360" y="3703320"/>
            <a:ext cx="3931920" cy="8686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Rewriting the question before embedding it (HyDE: embed a hypothetical answer). Relevance feedback: pull the question toward the top results (Rocchio). LLM-guided updates: TOUR, ReDE-RF, BAGEL.</a:t>
            </a:r>
            <a:endParaRPr lang="en-US" sz="1200" dirty="0"/>
          </a:p>
        </p:txBody>
      </p:sp>
      <p:sp>
        <p:nvSpPr>
          <p:cNvPr id="24" name="card Methods that do not"/>
          <p:cNvSpPr/>
          <p:nvPr/>
        </p:nvSpPr>
        <p:spPr>
          <a:xfrm>
            <a:off x="4846320" y="3611880"/>
            <a:ext cx="3840480" cy="1051560"/>
          </a:xfrm>
          <a:prstGeom prst="roundRect">
            <a:avLst>
              <a:gd name="adj" fmla="val 6957"/>
            </a:avLst>
          </a:prstGeom>
          <a:solidFill>
            <a:schemeClr val="bg2"/>
          </a:solidFill>
          <a:ln w="9525">
            <a:solidFill>
              <a:schemeClr val="bg2"/>
            </a:solidFill>
            <a:prstDash val="solid"/>
          </a:ln>
        </p:spPr>
      </p:sp>
      <p:sp>
        <p:nvSpPr>
          <p:cNvPr id="25" name="card head"/>
          <p:cNvSpPr txBox="1"/>
          <p:nvPr/>
        </p:nvSpPr>
        <p:spPr>
          <a:xfrm>
            <a:off x="4983480" y="3721608"/>
            <a:ext cx="3566160" cy="274320"/>
          </a:xfrm>
          <a:prstGeom prst="rect">
            <a:avLst/>
          </a:prstGeom>
          <a:noFill/>
          <a:ln/>
        </p:spPr>
        <p:txBody>
          <a:bodyPr wrap="square" lIns="0" tIns="0" rIns="0" bIns="0" rtlCol="0" anchor="ctr"/>
          <a:lstStyle/>
          <a:p>
            <a:pPr indent="0" marL="0">
              <a:buNone/>
            </a:pPr>
            <a:r>
              <a:rPr lang="en-US" sz="1300" b="1" dirty="0">
                <a:solidFill>
                  <a:schemeClr val="accent1"/>
                </a:solidFill>
              </a:rPr>
              <a:t>Methods that do not</a:t>
            </a:r>
            <a:endParaRPr lang="en-US" sz="1300" dirty="0"/>
          </a:p>
        </p:txBody>
      </p:sp>
      <p:sp>
        <p:nvSpPr>
          <p:cNvPr id="26" name="card body"/>
          <p:cNvSpPr txBox="1"/>
          <p:nvPr/>
        </p:nvSpPr>
        <p:spPr>
          <a:xfrm>
            <a:off x="4983480" y="4023360"/>
            <a:ext cx="3566160" cy="54864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Re-rankers re-order what the anchor already found. A document the anchor misses stays missed.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THE GAP</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Nobody has measured where a question lands</a:t>
            </a:r>
            <a:endParaRPr lang="en-US" sz="2600" dirty="0"/>
          </a:p>
        </p:txBody>
      </p:sp>
      <p:sp>
        <p:nvSpPr>
          <p:cNvPr id="5" name="card What is known about the space"/>
          <p:cNvSpPr/>
          <p:nvPr/>
        </p:nvSpPr>
        <p:spPr>
          <a:xfrm>
            <a:off x="457200" y="1280160"/>
            <a:ext cx="4023360" cy="2011680"/>
          </a:xfrm>
          <a:prstGeom prst="roundRect">
            <a:avLst>
              <a:gd name="adj" fmla="val 3636"/>
            </a:avLst>
          </a:prstGeom>
          <a:solidFill>
            <a:schemeClr val="bg2"/>
          </a:solidFill>
          <a:ln w="9525">
            <a:solidFill>
              <a:schemeClr val="bg2"/>
            </a:solidFill>
            <a:prstDash val="solid"/>
          </a:ln>
        </p:spPr>
      </p:sp>
      <p:sp>
        <p:nvSpPr>
          <p:cNvPr id="6" name="card head"/>
          <p:cNvSpPr txBox="1"/>
          <p:nvPr/>
        </p:nvSpPr>
        <p:spPr>
          <a:xfrm>
            <a:off x="594360" y="1389888"/>
            <a:ext cx="3749040" cy="274320"/>
          </a:xfrm>
          <a:prstGeom prst="rect">
            <a:avLst/>
          </a:prstGeom>
          <a:noFill/>
          <a:ln/>
        </p:spPr>
        <p:txBody>
          <a:bodyPr wrap="square" lIns="0" tIns="0" rIns="0" bIns="0" rtlCol="0" anchor="ctr"/>
          <a:lstStyle/>
          <a:p>
            <a:pPr indent="0" marL="0">
              <a:buNone/>
            </a:pPr>
            <a:r>
              <a:rPr lang="en-US" sz="1300" b="1" dirty="0">
                <a:solidFill>
                  <a:schemeClr val="accent1"/>
                </a:solidFill>
              </a:rPr>
              <a:t>What is known about the space</a:t>
            </a:r>
            <a:endParaRPr lang="en-US" sz="1300" dirty="0"/>
          </a:p>
        </p:txBody>
      </p:sp>
      <p:sp>
        <p:nvSpPr>
          <p:cNvPr id="7" name="card body"/>
          <p:cNvSpPr txBox="1"/>
          <p:nvPr/>
        </p:nvSpPr>
        <p:spPr>
          <a:xfrm>
            <a:off x="594360" y="1691640"/>
            <a:ext cx="3749040" cy="150876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Embeddings crowd into a narrow cone, so even unrelated texts look fairly similar.</a:t>
            </a:r>
            <a:endParaRPr lang="en-US" sz="1250" dirty="0"/>
          </a:p>
          <a:p>
            <a:pPr indent="0" marL="0">
              <a:spcAft>
                <a:spcPts val="400"/>
              </a:spcAft>
              <a:buNone/>
            </a:pPr>
            <a:r>
              <a:rPr lang="en-US" sz="1250" dirty="0">
                <a:solidFill>
                  <a:schemeClr val="tx1"/>
                </a:solidFill>
              </a:rPr>
              <a:t>Some points are hubs: nearest neighbors of many others for no semantic reason.</a:t>
            </a:r>
            <a:endParaRPr lang="en-US" sz="1250" dirty="0"/>
          </a:p>
          <a:p>
            <a:pPr indent="0" marL="0">
              <a:spcAft>
                <a:spcPts val="400"/>
              </a:spcAft>
              <a:buNone/>
            </a:pPr>
            <a:r>
              <a:rPr lang="en-US" sz="1250" dirty="0">
                <a:solidFill>
                  <a:schemeClr val="tx1"/>
                </a:solidFill>
              </a:rPr>
              <a:t>Questions and documents are placed differently: the encoder never sees them together.</a:t>
            </a:r>
            <a:endParaRPr lang="en-US" sz="1250" dirty="0"/>
          </a:p>
        </p:txBody>
      </p:sp>
      <p:sp>
        <p:nvSpPr>
          <p:cNvPr id="8" name="card What is not known"/>
          <p:cNvSpPr/>
          <p:nvPr/>
        </p:nvSpPr>
        <p:spPr>
          <a:xfrm>
            <a:off x="4663440" y="1280160"/>
            <a:ext cx="4023360" cy="2011680"/>
          </a:xfrm>
          <a:prstGeom prst="roundRect">
            <a:avLst>
              <a:gd name="adj" fmla="val 3636"/>
            </a:avLst>
          </a:prstGeom>
          <a:solidFill>
            <a:srgbClr val="FBEFE3"/>
          </a:solidFill>
          <a:ln w="9525">
            <a:solidFill>
              <a:srgbClr val="FBEFE3"/>
            </a:solidFill>
            <a:prstDash val="solid"/>
          </a:ln>
        </p:spPr>
      </p:sp>
      <p:sp>
        <p:nvSpPr>
          <p:cNvPr id="9" name="card head"/>
          <p:cNvSpPr txBox="1"/>
          <p:nvPr/>
        </p:nvSpPr>
        <p:spPr>
          <a:xfrm>
            <a:off x="4800600" y="1389888"/>
            <a:ext cx="3749040" cy="274320"/>
          </a:xfrm>
          <a:prstGeom prst="rect">
            <a:avLst/>
          </a:prstGeom>
          <a:noFill/>
          <a:ln/>
        </p:spPr>
        <p:txBody>
          <a:bodyPr wrap="square" lIns="0" tIns="0" rIns="0" bIns="0" rtlCol="0" anchor="ctr"/>
          <a:lstStyle/>
          <a:p>
            <a:pPr indent="0" marL="0">
              <a:buNone/>
            </a:pPr>
            <a:r>
              <a:rPr lang="en-US" sz="1300" b="1" dirty="0">
                <a:solidFill>
                  <a:schemeClr val="accent2"/>
                </a:solidFill>
              </a:rPr>
              <a:t>What is not known</a:t>
            </a:r>
            <a:endParaRPr lang="en-US" sz="1300" dirty="0"/>
          </a:p>
        </p:txBody>
      </p:sp>
      <p:sp>
        <p:nvSpPr>
          <p:cNvPr id="10" name="card body"/>
          <p:cNvSpPr txBox="1"/>
          <p:nvPr/>
        </p:nvSpPr>
        <p:spPr>
          <a:xfrm>
            <a:off x="4800600" y="1691640"/>
            <a:ext cx="3749040" cy="150876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Where one question sits relative to the documents that answer it, and to its labeled correct answer.</a:t>
            </a:r>
            <a:endParaRPr lang="en-US" sz="1250" dirty="0"/>
          </a:p>
          <a:p>
            <a:pPr indent="0" marL="0">
              <a:spcAft>
                <a:spcPts val="400"/>
              </a:spcAft>
              <a:buNone/>
            </a:pPr>
            <a:endParaRPr lang="en-US" sz="1250" dirty="0"/>
          </a:p>
          <a:p>
            <a:pPr indent="0" marL="0">
              <a:spcAft>
                <a:spcPts val="400"/>
              </a:spcAft>
              <a:buNone/>
            </a:pPr>
            <a:r>
              <a:rPr lang="en-US" sz="1250" dirty="0">
                <a:solidFill>
                  <a:schemeClr val="tx1"/>
                </a:solidFill>
              </a:rPr>
              <a:t>If questions systematically land away from their answers, nearest-neighbor search from the question is looking in the wrong place, and no re-ranker can fix that.</a:t>
            </a:r>
            <a:endParaRPr lang="en-US" sz="1250" dirty="0"/>
          </a:p>
        </p:txBody>
      </p:sp>
      <p:sp>
        <p:nvSpPr>
          <p:cNvPr id="11" name="instrument note"/>
          <p:cNvSpPr txBox="1"/>
          <p:nvPr/>
        </p:nvSpPr>
        <p:spPr>
          <a:xfrm>
            <a:off x="457200" y="3474720"/>
            <a:ext cx="8229600" cy="1097280"/>
          </a:xfrm>
          <a:prstGeom prst="rect">
            <a:avLst/>
          </a:prstGeom>
          <a:noFill/>
          <a:ln/>
        </p:spPr>
        <p:txBody>
          <a:bodyPr wrap="square" lIns="0" tIns="0" rIns="0" bIns="0" rtlCol="0" anchor="t"/>
          <a:lstStyle/>
          <a:p>
            <a:pPr indent="0" marL="0">
              <a:buNone/>
            </a:pPr>
            <a:r>
              <a:rPr lang="en-US" sz="1300" b="1" dirty="0">
                <a:solidFill>
                  <a:schemeClr val="accent1"/>
                </a:solidFill>
              </a:rPr>
              <a:t>Measuring instrument. </a:t>
            </a:r>
            <a:pPr indent="0" marL="0">
              <a:buNone/>
            </a:pPr>
            <a:r>
              <a:rPr lang="en-US" sz="1300" dirty="0">
                <a:solidFill>
                  <a:schemeClr val="tx1"/>
                </a:solidFill>
              </a:rPr>
              <a:t>An LLM judge scores every question-document pair from 0.1 to 1.0. It agrees with human assessors about as well as they agree with each other. It also shows that most questions have several equally good answers, so success is counted twice: </a:t>
            </a:r>
            <a:pPr indent="0" marL="0">
              <a:buNone/>
            </a:pPr>
            <a:r>
              <a:rPr lang="en-US" sz="1300" b="1" dirty="0">
                <a:solidFill>
                  <a:schemeClr val="tx1"/>
                </a:solidFill>
              </a:rPr>
              <a:t>exact</a:t>
            </a:r>
            <a:pPr indent="0" marL="0">
              <a:buNone/>
            </a:pPr>
            <a:r>
              <a:rPr lang="en-US" sz="1300" dirty="0">
                <a:solidFill>
                  <a:schemeClr val="tx1"/>
                </a:solidFill>
              </a:rPr>
              <a:t> (the labeled answer) and </a:t>
            </a:r>
            <a:pPr indent="0" marL="0">
              <a:buNone/>
            </a:pPr>
            <a:r>
              <a:rPr lang="en-US" sz="1300" b="1" dirty="0">
                <a:solidFill>
                  <a:schemeClr val="tx1"/>
                </a:solidFill>
              </a:rPr>
              <a:t>soft</a:t>
            </a:r>
            <a:pPr indent="0" marL="0">
              <a:buNone/>
            </a:pPr>
            <a:r>
              <a:rPr lang="en-US" sz="1300" dirty="0">
                <a:solidFill>
                  <a:schemeClr val="tx1"/>
                </a:solidFill>
              </a:rPr>
              <a:t> (any fully relevant document).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OUR APPROACH</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Measure first, design second: three goals</a:t>
            </a:r>
            <a:endParaRPr lang="en-US" sz="2600" dirty="0"/>
          </a:p>
        </p:txBody>
      </p:sp>
      <p:sp>
        <p:nvSpPr>
          <p:cNvPr id="5" name="goal card"/>
          <p:cNvSpPr/>
          <p:nvPr/>
        </p:nvSpPr>
        <p:spPr>
          <a:xfrm>
            <a:off x="457200" y="1280160"/>
            <a:ext cx="2560320" cy="3246120"/>
          </a:xfrm>
          <a:prstGeom prst="roundRect">
            <a:avLst>
              <a:gd name="adj" fmla="val 2857"/>
            </a:avLst>
          </a:prstGeom>
          <a:solidFill>
            <a:schemeClr val="bg2"/>
          </a:solidFill>
          <a:ln w="9525">
            <a:solidFill>
              <a:schemeClr val="bg2"/>
            </a:solidFill>
            <a:prstDash val="solid"/>
          </a:ln>
        </p:spPr>
      </p:sp>
      <p:sp>
        <p:nvSpPr>
          <p:cNvPr id="6" name="circle 1"/>
          <p:cNvSpPr/>
          <p:nvPr/>
        </p:nvSpPr>
        <p:spPr>
          <a:xfrm>
            <a:off x="640080" y="1444752"/>
            <a:ext cx="402336" cy="402336"/>
          </a:xfrm>
          <a:prstGeom prst="ellipse">
            <a:avLst/>
          </a:prstGeom>
          <a:solidFill>
            <a:schemeClr val="accent1"/>
          </a:solidFill>
          <a:ln w="12700">
            <a:solidFill>
              <a:schemeClr val="accent1"/>
            </a:solidFill>
            <a:prstDash val="solid"/>
          </a:ln>
        </p:spPr>
      </p:sp>
      <p:sp>
        <p:nvSpPr>
          <p:cNvPr id="7" name="circle label"/>
          <p:cNvSpPr txBox="1"/>
          <p:nvPr/>
        </p:nvSpPr>
        <p:spPr>
          <a:xfrm>
            <a:off x="640080" y="14447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goal head"/>
          <p:cNvSpPr txBox="1"/>
          <p:nvPr/>
        </p:nvSpPr>
        <p:spPr>
          <a:xfrm>
            <a:off x="1143000" y="1444752"/>
            <a:ext cx="1783080" cy="402336"/>
          </a:xfrm>
          <a:prstGeom prst="rect">
            <a:avLst/>
          </a:prstGeom>
          <a:noFill/>
          <a:ln/>
        </p:spPr>
        <p:txBody>
          <a:bodyPr wrap="square" lIns="0" tIns="0" rIns="0" bIns="0" rtlCol="0" anchor="ctr"/>
          <a:lstStyle/>
          <a:p>
            <a:pPr indent="0" marL="0">
              <a:buNone/>
            </a:pPr>
            <a:r>
              <a:rPr lang="en-US" sz="1350" b="1" dirty="0">
                <a:solidFill>
                  <a:schemeClr val="accent1"/>
                </a:solidFill>
              </a:rPr>
              <a:t>Study the geometry</a:t>
            </a:r>
            <a:endParaRPr lang="en-US" sz="1350" dirty="0"/>
          </a:p>
        </p:txBody>
      </p:sp>
      <p:sp>
        <p:nvSpPr>
          <p:cNvPr id="9" name="goal body"/>
          <p:cNvSpPr txBox="1"/>
          <p:nvPr/>
        </p:nvSpPr>
        <p:spPr>
          <a:xfrm>
            <a:off x="640080" y="2011680"/>
            <a:ext cx="2194560" cy="1600200"/>
          </a:xfrm>
          <a:prstGeom prst="rect">
            <a:avLst/>
          </a:prstGeom>
          <a:noFill/>
          <a:ln/>
        </p:spPr>
        <p:txBody>
          <a:bodyPr wrap="square" lIns="0" tIns="0" rIns="0" bIns="0" rtlCol="0" anchor="t"/>
          <a:lstStyle/>
          <a:p>
            <a:pPr indent="0" marL="0">
              <a:buNone/>
            </a:pPr>
            <a:r>
              <a:rPr lang="en-US" sz="1250" dirty="0">
                <a:solidFill>
                  <a:schemeClr val="tx1"/>
                </a:solidFill>
              </a:rPr>
              <a:t>How dense is a question's neighborhood, how far is it from its answers, and which of these properties separate the questions the retriever solves from those it fails.</a:t>
            </a:r>
            <a:endParaRPr lang="en-US" sz="1250" dirty="0"/>
          </a:p>
        </p:txBody>
      </p:sp>
      <p:sp>
        <p:nvSpPr>
          <p:cNvPr id="10" name="goal output"/>
          <p:cNvSpPr txBox="1"/>
          <p:nvPr/>
        </p:nvSpPr>
        <p:spPr>
          <a:xfrm>
            <a:off x="640080" y="3703320"/>
            <a:ext cx="2194560" cy="731520"/>
          </a:xfrm>
          <a:prstGeom prst="rect">
            <a:avLst/>
          </a:prstGeom>
          <a:noFill/>
          <a:ln/>
        </p:spPr>
        <p:txBody>
          <a:bodyPr wrap="square" lIns="0" tIns="0" rIns="0" bIns="0" rtlCol="0" anchor="t"/>
          <a:lstStyle/>
          <a:p>
            <a:pPr indent="0" marL="0">
              <a:buNone/>
            </a:pPr>
            <a:r>
              <a:rPr lang="en-US" sz="1150" i="1" dirty="0">
                <a:solidFill>
                  <a:schemeClr val="accent3"/>
                </a:solidFill>
              </a:rPr>
              <a:t>Output: a model that predicts failure from geometry alone.</a:t>
            </a:r>
            <a:endParaRPr lang="en-US" sz="1150" dirty="0"/>
          </a:p>
        </p:txBody>
      </p:sp>
      <p:sp>
        <p:nvSpPr>
          <p:cNvPr id="11" name="goal card"/>
          <p:cNvSpPr/>
          <p:nvPr/>
        </p:nvSpPr>
        <p:spPr>
          <a:xfrm>
            <a:off x="3291840" y="1280160"/>
            <a:ext cx="2560320" cy="3246120"/>
          </a:xfrm>
          <a:prstGeom prst="roundRect">
            <a:avLst>
              <a:gd name="adj" fmla="val 2857"/>
            </a:avLst>
          </a:prstGeom>
          <a:solidFill>
            <a:schemeClr val="bg2"/>
          </a:solidFill>
          <a:ln w="9525">
            <a:solidFill>
              <a:schemeClr val="bg2"/>
            </a:solidFill>
            <a:prstDash val="solid"/>
          </a:ln>
        </p:spPr>
      </p:sp>
      <p:sp>
        <p:nvSpPr>
          <p:cNvPr id="12" name="circle 2"/>
          <p:cNvSpPr/>
          <p:nvPr/>
        </p:nvSpPr>
        <p:spPr>
          <a:xfrm>
            <a:off x="3474720" y="1444752"/>
            <a:ext cx="402336" cy="402336"/>
          </a:xfrm>
          <a:prstGeom prst="ellipse">
            <a:avLst/>
          </a:prstGeom>
          <a:solidFill>
            <a:schemeClr val="accent1"/>
          </a:solidFill>
          <a:ln w="12700">
            <a:solidFill>
              <a:schemeClr val="accent1"/>
            </a:solidFill>
            <a:prstDash val="solid"/>
          </a:ln>
        </p:spPr>
      </p:sp>
      <p:sp>
        <p:nvSpPr>
          <p:cNvPr id="13" name="circle label"/>
          <p:cNvSpPr txBox="1"/>
          <p:nvPr/>
        </p:nvSpPr>
        <p:spPr>
          <a:xfrm>
            <a:off x="3474720" y="14447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goal head"/>
          <p:cNvSpPr txBox="1"/>
          <p:nvPr/>
        </p:nvSpPr>
        <p:spPr>
          <a:xfrm>
            <a:off x="3977640" y="1444752"/>
            <a:ext cx="1783080" cy="402336"/>
          </a:xfrm>
          <a:prstGeom prst="rect">
            <a:avLst/>
          </a:prstGeom>
          <a:noFill/>
          <a:ln/>
        </p:spPr>
        <p:txBody>
          <a:bodyPr wrap="square" lIns="0" tIns="0" rIns="0" bIns="0" rtlCol="0" anchor="ctr"/>
          <a:lstStyle/>
          <a:p>
            <a:pPr indent="0" marL="0">
              <a:buNone/>
            </a:pPr>
            <a:r>
              <a:rPr lang="en-US" sz="1350" b="1" dirty="0">
                <a:solidFill>
                  <a:schemeClr val="accent1"/>
                </a:solidFill>
              </a:rPr>
              <a:t>Geometric heuristics</a:t>
            </a:r>
            <a:endParaRPr lang="en-US" sz="1350" dirty="0"/>
          </a:p>
        </p:txBody>
      </p:sp>
      <p:sp>
        <p:nvSpPr>
          <p:cNvPr id="15" name="goal body"/>
          <p:cNvSpPr txBox="1"/>
          <p:nvPr/>
        </p:nvSpPr>
        <p:spPr>
          <a:xfrm>
            <a:off x="3474720" y="2011680"/>
            <a:ext cx="2194560" cy="1600200"/>
          </a:xfrm>
          <a:prstGeom prst="rect">
            <a:avLst/>
          </a:prstGeom>
          <a:noFill/>
          <a:ln/>
        </p:spPr>
        <p:txBody>
          <a:bodyPr wrap="square" lIns="0" tIns="0" rIns="0" bIns="0" rtlCol="0" anchor="t"/>
          <a:lstStyle/>
          <a:p>
            <a:pPr indent="0" marL="0">
              <a:buNone/>
            </a:pPr>
            <a:r>
              <a:rPr lang="en-US" sz="1250" dirty="0">
                <a:solidFill>
                  <a:schemeClr val="tx1"/>
                </a:solidFill>
              </a:rPr>
              <a:t>Move the search anchor from the question toward the region where the relevant documents lie, by an amount set from the measured geometry rather than fixed in advance.</a:t>
            </a:r>
            <a:endParaRPr lang="en-US" sz="1250" dirty="0"/>
          </a:p>
        </p:txBody>
      </p:sp>
      <p:sp>
        <p:nvSpPr>
          <p:cNvPr id="16" name="goal output"/>
          <p:cNvSpPr txBox="1"/>
          <p:nvPr/>
        </p:nvSpPr>
        <p:spPr>
          <a:xfrm>
            <a:off x="3474720" y="3703320"/>
            <a:ext cx="2194560" cy="731520"/>
          </a:xfrm>
          <a:prstGeom prst="rect">
            <a:avLst/>
          </a:prstGeom>
          <a:noFill/>
          <a:ln/>
        </p:spPr>
        <p:txBody>
          <a:bodyPr wrap="square" lIns="0" tIns="0" rIns="0" bIns="0" rtlCol="0" anchor="t"/>
          <a:lstStyle/>
          <a:p>
            <a:pPr indent="0" marL="0">
              <a:buNone/>
            </a:pPr>
            <a:r>
              <a:rPr lang="en-US" sz="1150" i="1" dirty="0">
                <a:solidFill>
                  <a:schemeClr val="accent3"/>
                </a:solidFill>
              </a:rPr>
              <a:t>Output: a better starting point any bi-encoder can use, no retraining.</a:t>
            </a:r>
            <a:endParaRPr lang="en-US" sz="1150" dirty="0"/>
          </a:p>
        </p:txBody>
      </p:sp>
      <p:sp>
        <p:nvSpPr>
          <p:cNvPr id="17" name="goal card"/>
          <p:cNvSpPr/>
          <p:nvPr/>
        </p:nvSpPr>
        <p:spPr>
          <a:xfrm>
            <a:off x="6126480" y="1280160"/>
            <a:ext cx="2560320" cy="3246120"/>
          </a:xfrm>
          <a:prstGeom prst="roundRect">
            <a:avLst>
              <a:gd name="adj" fmla="val 2857"/>
            </a:avLst>
          </a:prstGeom>
          <a:solidFill>
            <a:schemeClr val="bg2"/>
          </a:solidFill>
          <a:ln w="9525">
            <a:solidFill>
              <a:schemeClr val="bg2"/>
            </a:solidFill>
            <a:prstDash val="solid"/>
          </a:ln>
        </p:spPr>
      </p:sp>
      <p:sp>
        <p:nvSpPr>
          <p:cNvPr id="18" name="circle 3"/>
          <p:cNvSpPr/>
          <p:nvPr/>
        </p:nvSpPr>
        <p:spPr>
          <a:xfrm>
            <a:off x="6309360" y="1444752"/>
            <a:ext cx="402336" cy="402336"/>
          </a:xfrm>
          <a:prstGeom prst="ellipse">
            <a:avLst/>
          </a:prstGeom>
          <a:solidFill>
            <a:schemeClr val="accent2"/>
          </a:solidFill>
          <a:ln w="12700">
            <a:solidFill>
              <a:schemeClr val="accent2"/>
            </a:solidFill>
            <a:prstDash val="solid"/>
          </a:ln>
        </p:spPr>
      </p:sp>
      <p:sp>
        <p:nvSpPr>
          <p:cNvPr id="19" name="circle label"/>
          <p:cNvSpPr txBox="1"/>
          <p:nvPr/>
        </p:nvSpPr>
        <p:spPr>
          <a:xfrm>
            <a:off x="6309360" y="14447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goal head"/>
          <p:cNvSpPr txBox="1"/>
          <p:nvPr/>
        </p:nvSpPr>
        <p:spPr>
          <a:xfrm>
            <a:off x="6812280" y="1444752"/>
            <a:ext cx="1783080" cy="402336"/>
          </a:xfrm>
          <a:prstGeom prst="rect">
            <a:avLst/>
          </a:prstGeom>
          <a:noFill/>
          <a:ln/>
        </p:spPr>
        <p:txBody>
          <a:bodyPr wrap="square" lIns="0" tIns="0" rIns="0" bIns="0" rtlCol="0" anchor="ctr"/>
          <a:lstStyle/>
          <a:p>
            <a:pPr indent="0" marL="0">
              <a:buNone/>
            </a:pPr>
            <a:r>
              <a:rPr lang="en-US" sz="1350" b="1" dirty="0">
                <a:solidFill>
                  <a:schemeClr val="accent1"/>
                </a:solidFill>
              </a:rPr>
              <a:t>Iterative search for the failures</a:t>
            </a:r>
            <a:endParaRPr lang="en-US" sz="1350" dirty="0"/>
          </a:p>
        </p:txBody>
      </p:sp>
      <p:sp>
        <p:nvSpPr>
          <p:cNvPr id="21" name="goal body"/>
          <p:cNvSpPr txBox="1"/>
          <p:nvPr/>
        </p:nvSpPr>
        <p:spPr>
          <a:xfrm>
            <a:off x="6309360" y="2011680"/>
            <a:ext cx="2194560" cy="1600200"/>
          </a:xfrm>
          <a:prstGeom prst="rect">
            <a:avLst/>
          </a:prstGeom>
          <a:noFill/>
          <a:ln/>
        </p:spPr>
        <p:txBody>
          <a:bodyPr wrap="square" lIns="0" tIns="0" rIns="0" bIns="0" rtlCol="0" anchor="t"/>
          <a:lstStyle/>
          <a:p>
            <a:pPr indent="0" marL="0">
              <a:buNone/>
            </a:pPr>
            <a:r>
              <a:rPr lang="en-US" sz="1250" dirty="0">
                <a:solidFill>
                  <a:schemeClr val="tx1"/>
                </a:solidFill>
              </a:rPr>
              <a:t>Inspect documents one at a time, ask the judge about each, and move the anchor again after each answer, so the search follows the evidence it collects.</a:t>
            </a:r>
            <a:endParaRPr lang="en-US" sz="1250" dirty="0"/>
          </a:p>
        </p:txBody>
      </p:sp>
      <p:sp>
        <p:nvSpPr>
          <p:cNvPr id="22" name="goal output"/>
          <p:cNvSpPr txBox="1"/>
          <p:nvPr/>
        </p:nvSpPr>
        <p:spPr>
          <a:xfrm>
            <a:off x="6309360" y="3703320"/>
            <a:ext cx="2194560" cy="731520"/>
          </a:xfrm>
          <a:prstGeom prst="rect">
            <a:avLst/>
          </a:prstGeom>
          <a:noFill/>
          <a:ln/>
        </p:spPr>
        <p:txBody>
          <a:bodyPr wrap="square" lIns="0" tIns="0" rIns="0" bIns="0" rtlCol="0" anchor="t"/>
          <a:lstStyle/>
          <a:p>
            <a:pPr indent="0" marL="0">
              <a:buNone/>
            </a:pPr>
            <a:r>
              <a:rPr lang="en-US" sz="1150" i="1" dirty="0">
                <a:solidFill>
                  <a:schemeClr val="accent3"/>
                </a:solidFill>
              </a:rPr>
              <a:t>Output: fewer inspections exactly where the retriever needs help.</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PHASE 1</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The benchmark: a fully judged biomedical collection</a:t>
            </a:r>
            <a:endParaRPr lang="en-US" sz="2600" dirty="0"/>
          </a:p>
        </p:txBody>
      </p:sp>
      <p:sp>
        <p:nvSpPr>
          <p:cNvPr id="5" name="stat 196"/>
          <p:cNvSpPr txBox="1"/>
          <p:nvPr/>
        </p:nvSpPr>
        <p:spPr>
          <a:xfrm>
            <a:off x="457200" y="1280160"/>
            <a:ext cx="1920240" cy="594360"/>
          </a:xfrm>
          <a:prstGeom prst="rect">
            <a:avLst/>
          </a:prstGeom>
          <a:noFill/>
          <a:ln/>
        </p:spPr>
        <p:txBody>
          <a:bodyPr wrap="square" lIns="0" tIns="0" rIns="0" bIns="0" rtlCol="0" anchor="ctr"/>
          <a:lstStyle/>
          <a:p>
            <a:pPr indent="0" marL="0">
              <a:buNone/>
            </a:pPr>
            <a:r>
              <a:rPr lang="en-US" sz="3600" b="1" dirty="0">
                <a:solidFill>
                  <a:schemeClr val="accent1"/>
                </a:solidFill>
              </a:rPr>
              <a:t>196</a:t>
            </a:r>
            <a:endParaRPr lang="en-US" sz="3600" dirty="0"/>
          </a:p>
        </p:txBody>
      </p:sp>
      <p:sp>
        <p:nvSpPr>
          <p:cNvPr id="6" name="stat label"/>
          <p:cNvSpPr txBox="1"/>
          <p:nvPr/>
        </p:nvSpPr>
        <p:spPr>
          <a:xfrm>
            <a:off x="457200" y="1883664"/>
            <a:ext cx="1920240" cy="566928"/>
          </a:xfrm>
          <a:prstGeom prst="rect">
            <a:avLst/>
          </a:prstGeom>
          <a:noFill/>
          <a:ln/>
        </p:spPr>
        <p:txBody>
          <a:bodyPr wrap="square" lIns="0" tIns="0" rIns="0" bIns="0" rtlCol="0" anchor="t"/>
          <a:lstStyle/>
          <a:p>
            <a:pPr indent="0" marL="0">
              <a:buNone/>
            </a:pPr>
            <a:r>
              <a:rPr lang="en-US" sz="1150" dirty="0">
                <a:solidFill>
                  <a:schemeClr val="tx1"/>
                </a:solidFill>
              </a:rPr>
              <a:t>questions, each with one abstract labeled as the correct answer</a:t>
            </a:r>
            <a:endParaRPr lang="en-US" sz="1150" dirty="0"/>
          </a:p>
        </p:txBody>
      </p:sp>
      <p:sp>
        <p:nvSpPr>
          <p:cNvPr id="7" name="stat 5,035"/>
          <p:cNvSpPr txBox="1"/>
          <p:nvPr/>
        </p:nvSpPr>
        <p:spPr>
          <a:xfrm>
            <a:off x="2560320" y="1280160"/>
            <a:ext cx="1920240" cy="594360"/>
          </a:xfrm>
          <a:prstGeom prst="rect">
            <a:avLst/>
          </a:prstGeom>
          <a:noFill/>
          <a:ln/>
        </p:spPr>
        <p:txBody>
          <a:bodyPr wrap="square" lIns="0" tIns="0" rIns="0" bIns="0" rtlCol="0" anchor="ctr"/>
          <a:lstStyle/>
          <a:p>
            <a:pPr indent="0" marL="0">
              <a:buNone/>
            </a:pPr>
            <a:r>
              <a:rPr lang="en-US" sz="3600" b="1" dirty="0">
                <a:solidFill>
                  <a:schemeClr val="accent1"/>
                </a:solidFill>
              </a:rPr>
              <a:t>5,035</a:t>
            </a:r>
            <a:endParaRPr lang="en-US" sz="3600" dirty="0"/>
          </a:p>
        </p:txBody>
      </p:sp>
      <p:sp>
        <p:nvSpPr>
          <p:cNvPr id="8" name="stat label"/>
          <p:cNvSpPr txBox="1"/>
          <p:nvPr/>
        </p:nvSpPr>
        <p:spPr>
          <a:xfrm>
            <a:off x="2560320" y="1883664"/>
            <a:ext cx="1920240" cy="566928"/>
          </a:xfrm>
          <a:prstGeom prst="rect">
            <a:avLst/>
          </a:prstGeom>
          <a:noFill/>
          <a:ln/>
        </p:spPr>
        <p:txBody>
          <a:bodyPr wrap="square" lIns="0" tIns="0" rIns="0" bIns="0" rtlCol="0" anchor="t"/>
          <a:lstStyle/>
          <a:p>
            <a:pPr indent="0" marL="0">
              <a:buNone/>
            </a:pPr>
            <a:r>
              <a:rPr lang="en-US" sz="1150" dirty="0">
                <a:solidFill>
                  <a:schemeClr val="tx1"/>
                </a:solidFill>
              </a:rPr>
              <a:t>PubMed abstracts in the shared pool</a:t>
            </a:r>
            <a:endParaRPr lang="en-US" sz="1150" dirty="0"/>
          </a:p>
        </p:txBody>
      </p:sp>
      <p:sp>
        <p:nvSpPr>
          <p:cNvPr id="9" name="stat ~1M"/>
          <p:cNvSpPr txBox="1"/>
          <p:nvPr/>
        </p:nvSpPr>
        <p:spPr>
          <a:xfrm>
            <a:off x="4663440" y="1280160"/>
            <a:ext cx="1920240" cy="594360"/>
          </a:xfrm>
          <a:prstGeom prst="rect">
            <a:avLst/>
          </a:prstGeom>
          <a:noFill/>
          <a:ln/>
        </p:spPr>
        <p:txBody>
          <a:bodyPr wrap="square" lIns="0" tIns="0" rIns="0" bIns="0" rtlCol="0" anchor="ctr"/>
          <a:lstStyle/>
          <a:p>
            <a:pPr indent="0" marL="0">
              <a:buNone/>
            </a:pPr>
            <a:r>
              <a:rPr lang="en-US" sz="3600" b="1" dirty="0">
                <a:solidFill>
                  <a:schemeClr val="accent2"/>
                </a:solidFill>
              </a:rPr>
              <a:t>~1M</a:t>
            </a:r>
            <a:endParaRPr lang="en-US" sz="3600" dirty="0"/>
          </a:p>
        </p:txBody>
      </p:sp>
      <p:sp>
        <p:nvSpPr>
          <p:cNvPr id="10" name="stat label"/>
          <p:cNvSpPr txBox="1"/>
          <p:nvPr/>
        </p:nvSpPr>
        <p:spPr>
          <a:xfrm>
            <a:off x="4663440" y="1883664"/>
            <a:ext cx="1920240" cy="566928"/>
          </a:xfrm>
          <a:prstGeom prst="rect">
            <a:avLst/>
          </a:prstGeom>
          <a:noFill/>
          <a:ln/>
        </p:spPr>
        <p:txBody>
          <a:bodyPr wrap="square" lIns="0" tIns="0" rIns="0" bIns="0" rtlCol="0" anchor="t"/>
          <a:lstStyle/>
          <a:p>
            <a:pPr indent="0" marL="0">
              <a:buNone/>
            </a:pPr>
            <a:r>
              <a:rPr lang="en-US" sz="1150" dirty="0">
                <a:solidFill>
                  <a:schemeClr val="tx1"/>
                </a:solidFill>
              </a:rPr>
              <a:t>question-document pairs scored by an LLM judge (six levels, 0.1 to 1.0)</a:t>
            </a:r>
            <a:endParaRPr lang="en-US" sz="1150" dirty="0"/>
          </a:p>
        </p:txBody>
      </p:sp>
      <p:sp>
        <p:nvSpPr>
          <p:cNvPr id="11" name="stat 768"/>
          <p:cNvSpPr txBox="1"/>
          <p:nvPr/>
        </p:nvSpPr>
        <p:spPr>
          <a:xfrm>
            <a:off x="6766560" y="1280160"/>
            <a:ext cx="1920240" cy="594360"/>
          </a:xfrm>
          <a:prstGeom prst="rect">
            <a:avLst/>
          </a:prstGeom>
          <a:noFill/>
          <a:ln/>
        </p:spPr>
        <p:txBody>
          <a:bodyPr wrap="square" lIns="0" tIns="0" rIns="0" bIns="0" rtlCol="0" anchor="ctr"/>
          <a:lstStyle/>
          <a:p>
            <a:pPr indent="0" marL="0">
              <a:buNone/>
            </a:pPr>
            <a:r>
              <a:rPr lang="en-US" sz="3600" b="1" dirty="0">
                <a:solidFill>
                  <a:schemeClr val="accent1"/>
                </a:solidFill>
              </a:rPr>
              <a:t>768</a:t>
            </a:r>
            <a:endParaRPr lang="en-US" sz="3600" dirty="0"/>
          </a:p>
        </p:txBody>
      </p:sp>
      <p:sp>
        <p:nvSpPr>
          <p:cNvPr id="12" name="stat label"/>
          <p:cNvSpPr txBox="1"/>
          <p:nvPr/>
        </p:nvSpPr>
        <p:spPr>
          <a:xfrm>
            <a:off x="6766560" y="1883664"/>
            <a:ext cx="1920240" cy="566928"/>
          </a:xfrm>
          <a:prstGeom prst="rect">
            <a:avLst/>
          </a:prstGeom>
          <a:noFill/>
          <a:ln/>
        </p:spPr>
        <p:txBody>
          <a:bodyPr wrap="square" lIns="0" tIns="0" rIns="0" bIns="0" rtlCol="0" anchor="t"/>
          <a:lstStyle/>
          <a:p>
            <a:pPr indent="0" marL="0">
              <a:buNone/>
            </a:pPr>
            <a:r>
              <a:rPr lang="en-US" sz="1150" dirty="0">
                <a:solidFill>
                  <a:schemeClr val="tx1"/>
                </a:solidFill>
              </a:rPr>
              <a:t>dimensions, all-mpnet-base-v2 bi-encoder</a:t>
            </a:r>
            <a:endParaRPr lang="en-US" sz="1150" dirty="0"/>
          </a:p>
        </p:txBody>
      </p:sp>
      <p:sp>
        <p:nvSpPr>
          <p:cNvPr id="13" name="card Why a biomedical collection"/>
          <p:cNvSpPr/>
          <p:nvPr/>
        </p:nvSpPr>
        <p:spPr>
          <a:xfrm>
            <a:off x="457200" y="2697480"/>
            <a:ext cx="4023360" cy="1783080"/>
          </a:xfrm>
          <a:prstGeom prst="roundRect">
            <a:avLst>
              <a:gd name="adj" fmla="val 4103"/>
            </a:avLst>
          </a:prstGeom>
          <a:solidFill>
            <a:schemeClr val="bg2"/>
          </a:solidFill>
          <a:ln w="9525">
            <a:solidFill>
              <a:schemeClr val="bg2"/>
            </a:solidFill>
            <a:prstDash val="solid"/>
          </a:ln>
        </p:spPr>
      </p:sp>
      <p:sp>
        <p:nvSpPr>
          <p:cNvPr id="14" name="card head"/>
          <p:cNvSpPr txBox="1"/>
          <p:nvPr/>
        </p:nvSpPr>
        <p:spPr>
          <a:xfrm>
            <a:off x="594360" y="2807208"/>
            <a:ext cx="3749040" cy="274320"/>
          </a:xfrm>
          <a:prstGeom prst="rect">
            <a:avLst/>
          </a:prstGeom>
          <a:noFill/>
          <a:ln/>
        </p:spPr>
        <p:txBody>
          <a:bodyPr wrap="square" lIns="0" tIns="0" rIns="0" bIns="0" rtlCol="0" anchor="ctr"/>
          <a:lstStyle/>
          <a:p>
            <a:pPr indent="0" marL="0">
              <a:buNone/>
            </a:pPr>
            <a:r>
              <a:rPr lang="en-US" sz="1300" b="1" dirty="0">
                <a:solidFill>
                  <a:schemeClr val="accent1"/>
                </a:solidFill>
              </a:rPr>
              <a:t>Why a biomedical collection</a:t>
            </a:r>
            <a:endParaRPr lang="en-US" sz="1300" dirty="0"/>
          </a:p>
        </p:txBody>
      </p:sp>
      <p:sp>
        <p:nvSpPr>
          <p:cNvPr id="15" name="card body"/>
          <p:cNvSpPr txBox="1"/>
          <p:nvPr/>
        </p:nvSpPr>
        <p:spPr>
          <a:xfrm>
            <a:off x="594360" y="3108960"/>
            <a:ext cx="3749040" cy="128016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The gap between questions and documents is largest here: general retrievers lose the most on biomedical tasks, and the questions are short expert queries against dense abstracts. A large gap makes the geometry easier to measure. The domain is not the object of study; every phase ends with a validation on TREC-COVID and MS MARCO.</a:t>
            </a:r>
            <a:endParaRPr lang="en-US" sz="1200" dirty="0"/>
          </a:p>
        </p:txBody>
      </p:sp>
      <p:sp>
        <p:nvSpPr>
          <p:cNvPr id="16" name="card Why judge every pair"/>
          <p:cNvSpPr/>
          <p:nvPr/>
        </p:nvSpPr>
        <p:spPr>
          <a:xfrm>
            <a:off x="4663440" y="2697480"/>
            <a:ext cx="4023360" cy="1783080"/>
          </a:xfrm>
          <a:prstGeom prst="roundRect">
            <a:avLst>
              <a:gd name="adj" fmla="val 4103"/>
            </a:avLst>
          </a:prstGeom>
          <a:solidFill>
            <a:schemeClr val="bg2"/>
          </a:solidFill>
          <a:ln w="9525">
            <a:solidFill>
              <a:schemeClr val="bg2"/>
            </a:solidFill>
            <a:prstDash val="solid"/>
          </a:ln>
        </p:spPr>
      </p:sp>
      <p:sp>
        <p:nvSpPr>
          <p:cNvPr id="17" name="card head"/>
          <p:cNvSpPr txBox="1"/>
          <p:nvPr/>
        </p:nvSpPr>
        <p:spPr>
          <a:xfrm>
            <a:off x="4800600" y="2807208"/>
            <a:ext cx="3749040" cy="274320"/>
          </a:xfrm>
          <a:prstGeom prst="rect">
            <a:avLst/>
          </a:prstGeom>
          <a:noFill/>
          <a:ln/>
        </p:spPr>
        <p:txBody>
          <a:bodyPr wrap="square" lIns="0" tIns="0" rIns="0" bIns="0" rtlCol="0" anchor="ctr"/>
          <a:lstStyle/>
          <a:p>
            <a:pPr indent="0" marL="0">
              <a:buNone/>
            </a:pPr>
            <a:r>
              <a:rPr lang="en-US" sz="1300" b="1" dirty="0">
                <a:solidFill>
                  <a:schemeClr val="accent1"/>
                </a:solidFill>
              </a:rPr>
              <a:t>Why judge every pair</a:t>
            </a:r>
            <a:endParaRPr lang="en-US" sz="1300" dirty="0"/>
          </a:p>
        </p:txBody>
      </p:sp>
      <p:sp>
        <p:nvSpPr>
          <p:cNvPr id="18" name="card body"/>
          <p:cNvSpPr txBox="1"/>
          <p:nvPr/>
        </p:nvSpPr>
        <p:spPr>
          <a:xfrm>
            <a:off x="4800600" y="3108960"/>
            <a:ext cx="3749040" cy="128016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A retrieval method is a rule for the order in which documents are inspected. With the judge's answer stored for every document, any method runs offline on all 196 questions in seconds, with no new LLM calls. The judging also shows the answer is rarely unique: on average 17 documents per question receive the top score.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FINDING 1</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Questions are outliers</a:t>
            </a:r>
            <a:endParaRPr lang="en-US" sz="2600" dirty="0"/>
          </a:p>
        </p:txBody>
      </p:sp>
      <p:pic>
        <p:nvPicPr>
          <p:cNvPr id="5" name="trilateration plot, question 37" descr="trilateration_q037.png">    </p:cNvPr>
          <p:cNvPicPr>
            <a:picLocks noChangeAspect="1"/>
          </p:cNvPicPr>
          <p:nvPr/>
        </p:nvPicPr>
        <p:blipFill>
          <a:blip r:embed="rId1"/>
          <a:stretch>
            <a:fillRect/>
          </a:stretch>
        </p:blipFill>
        <p:spPr>
          <a:xfrm>
            <a:off x="457200" y="1234440"/>
            <a:ext cx="2788920" cy="3191256"/>
          </a:xfrm>
          <a:prstGeom prst="rect">
            <a:avLst/>
          </a:prstGeom>
        </p:spPr>
      </p:pic>
      <p:sp>
        <p:nvSpPr>
          <p:cNvPr id="6" name="figure caption"/>
          <p:cNvSpPr txBox="1"/>
          <p:nvPr/>
        </p:nvSpPr>
        <p:spPr>
          <a:xfrm>
            <a:off x="457200" y="4443984"/>
            <a:ext cx="3017520" cy="274320"/>
          </a:xfrm>
          <a:prstGeom prst="rect">
            <a:avLst/>
          </a:prstGeom>
          <a:noFill/>
          <a:ln/>
        </p:spPr>
        <p:txBody>
          <a:bodyPr wrap="square" lIns="0" tIns="0" rIns="0" bIns="0" rtlCol="0" anchor="ctr"/>
          <a:lstStyle/>
          <a:p>
            <a:pPr indent="0" marL="0">
              <a:buNone/>
            </a:pPr>
            <a:r>
              <a:rPr lang="en-US" sz="900" i="1" dirty="0">
                <a:solidFill>
                  <a:schemeClr val="accent5"/>
                </a:solidFill>
              </a:rPr>
              <a:t>Question 37. One document inside the question's circle, 42 inside the centroid's.</a:t>
            </a:r>
            <a:endParaRPr lang="en-US" sz="900" dirty="0"/>
          </a:p>
        </p:txBody>
      </p:sp>
      <p:sp>
        <p:nvSpPr>
          <p:cNvPr id="7" name="stat 3.1 vs 9.7"/>
          <p:cNvSpPr txBox="1"/>
          <p:nvPr/>
        </p:nvSpPr>
        <p:spPr>
          <a:xfrm>
            <a:off x="3749040" y="1234440"/>
            <a:ext cx="2377440" cy="594360"/>
          </a:xfrm>
          <a:prstGeom prst="rect">
            <a:avLst/>
          </a:prstGeom>
          <a:noFill/>
          <a:ln/>
        </p:spPr>
        <p:txBody>
          <a:bodyPr wrap="square" lIns="0" tIns="0" rIns="0" bIns="0" rtlCol="0" anchor="ctr"/>
          <a:lstStyle/>
          <a:p>
            <a:pPr indent="0" marL="0">
              <a:buNone/>
            </a:pPr>
            <a:r>
              <a:rPr lang="en-US" sz="3600" b="1" dirty="0">
                <a:solidFill>
                  <a:schemeClr val="accent1"/>
                </a:solidFill>
              </a:rPr>
              <a:t>3.1 vs 9.7</a:t>
            </a:r>
            <a:endParaRPr lang="en-US" sz="3600" dirty="0"/>
          </a:p>
        </p:txBody>
      </p:sp>
      <p:sp>
        <p:nvSpPr>
          <p:cNvPr id="8" name="stat label"/>
          <p:cNvSpPr txBox="1"/>
          <p:nvPr/>
        </p:nvSpPr>
        <p:spPr>
          <a:xfrm>
            <a:off x="3749040" y="1837944"/>
            <a:ext cx="2377440" cy="566928"/>
          </a:xfrm>
          <a:prstGeom prst="rect">
            <a:avLst/>
          </a:prstGeom>
          <a:noFill/>
          <a:ln/>
        </p:spPr>
        <p:txBody>
          <a:bodyPr wrap="square" lIns="0" tIns="0" rIns="0" bIns="0" rtlCol="0" anchor="t"/>
          <a:lstStyle/>
          <a:p>
            <a:pPr indent="0" marL="0">
              <a:buNone/>
            </a:pPr>
            <a:r>
              <a:rPr lang="en-US" sz="1150" dirty="0">
                <a:solidFill>
                  <a:schemeClr val="tx1"/>
                </a:solidFill>
              </a:rPr>
              <a:t>documents inside a circle of radius d(·,GT) around the question vs around the centroid C of the relevant documents (random points: 0.8)</a:t>
            </a:r>
            <a:endParaRPr lang="en-US" sz="1150" dirty="0"/>
          </a:p>
        </p:txBody>
      </p:sp>
      <p:sp>
        <p:nvSpPr>
          <p:cNvPr id="9" name="stat 44%"/>
          <p:cNvSpPr txBox="1"/>
          <p:nvPr/>
        </p:nvSpPr>
        <p:spPr>
          <a:xfrm>
            <a:off x="6355080" y="1234440"/>
            <a:ext cx="2331720" cy="594360"/>
          </a:xfrm>
          <a:prstGeom prst="rect">
            <a:avLst/>
          </a:prstGeom>
          <a:noFill/>
          <a:ln/>
        </p:spPr>
        <p:txBody>
          <a:bodyPr wrap="square" lIns="0" tIns="0" rIns="0" bIns="0" rtlCol="0" anchor="ctr"/>
          <a:lstStyle/>
          <a:p>
            <a:pPr indent="0" marL="0">
              <a:buNone/>
            </a:pPr>
            <a:r>
              <a:rPr lang="en-US" sz="3600" b="1" dirty="0">
                <a:solidFill>
                  <a:schemeClr val="accent2"/>
                </a:solidFill>
              </a:rPr>
              <a:t>44%</a:t>
            </a:r>
            <a:endParaRPr lang="en-US" sz="3600" dirty="0"/>
          </a:p>
        </p:txBody>
      </p:sp>
      <p:sp>
        <p:nvSpPr>
          <p:cNvPr id="10" name="stat label"/>
          <p:cNvSpPr txBox="1"/>
          <p:nvPr/>
        </p:nvSpPr>
        <p:spPr>
          <a:xfrm>
            <a:off x="6355080" y="1837944"/>
            <a:ext cx="2331720" cy="566928"/>
          </a:xfrm>
          <a:prstGeom prst="rect">
            <a:avLst/>
          </a:prstGeom>
          <a:noFill/>
          <a:ln/>
        </p:spPr>
        <p:txBody>
          <a:bodyPr wrap="square" lIns="0" tIns="0" rIns="0" bIns="0" rtlCol="0" anchor="t"/>
          <a:lstStyle/>
          <a:p>
            <a:pPr indent="0" marL="0">
              <a:buNone/>
            </a:pPr>
            <a:r>
              <a:rPr lang="en-US" sz="1150" dirty="0">
                <a:solidFill>
                  <a:schemeClr val="tx1"/>
                </a:solidFill>
              </a:rPr>
              <a:t>closer: the centroid is at distance 0.10 from the correct answer, the question at 0.17</a:t>
            </a:r>
            <a:endParaRPr lang="en-US" sz="1150" dirty="0"/>
          </a:p>
        </p:txBody>
      </p:sp>
      <p:sp>
        <p:nvSpPr>
          <p:cNvPr id="11" name="stat 0.39"/>
          <p:cNvSpPr txBox="1"/>
          <p:nvPr/>
        </p:nvSpPr>
        <p:spPr>
          <a:xfrm>
            <a:off x="3749040" y="2697480"/>
            <a:ext cx="2377440" cy="594360"/>
          </a:xfrm>
          <a:prstGeom prst="rect">
            <a:avLst/>
          </a:prstGeom>
          <a:noFill/>
          <a:ln/>
        </p:spPr>
        <p:txBody>
          <a:bodyPr wrap="square" lIns="0" tIns="0" rIns="0" bIns="0" rtlCol="0" anchor="ctr"/>
          <a:lstStyle/>
          <a:p>
            <a:pPr indent="0" marL="0">
              <a:buNone/>
            </a:pPr>
            <a:r>
              <a:rPr lang="en-US" sz="3600" b="1" dirty="0">
                <a:solidFill>
                  <a:schemeClr val="accent1"/>
                </a:solidFill>
              </a:rPr>
              <a:t>0.39</a:t>
            </a:r>
            <a:endParaRPr lang="en-US" sz="3600" dirty="0"/>
          </a:p>
        </p:txBody>
      </p:sp>
      <p:sp>
        <p:nvSpPr>
          <p:cNvPr id="12" name="stat label"/>
          <p:cNvSpPr txBox="1"/>
          <p:nvPr/>
        </p:nvSpPr>
        <p:spPr>
          <a:xfrm>
            <a:off x="3749040" y="3300984"/>
            <a:ext cx="2377440" cy="566928"/>
          </a:xfrm>
          <a:prstGeom prst="rect">
            <a:avLst/>
          </a:prstGeom>
          <a:noFill/>
          <a:ln/>
        </p:spPr>
        <p:txBody>
          <a:bodyPr wrap="square" lIns="0" tIns="0" rIns="0" bIns="0" rtlCol="0" anchor="t"/>
          <a:lstStyle/>
          <a:p>
            <a:pPr indent="0" marL="0">
              <a:buNone/>
            </a:pPr>
            <a:r>
              <a:rPr lang="en-US" sz="1150" dirty="0">
                <a:solidFill>
                  <a:schemeClr val="tx1"/>
                </a:solidFill>
              </a:rPr>
              <a:t>the correct answer sits off the straight line between the question and the centroid (mean perpendicular offset)</a:t>
            </a:r>
            <a:endParaRPr lang="en-US" sz="1150" dirty="0"/>
          </a:p>
        </p:txBody>
      </p:sp>
      <p:sp>
        <p:nvSpPr>
          <p:cNvPr id="13" name="stat 74%"/>
          <p:cNvSpPr txBox="1"/>
          <p:nvPr/>
        </p:nvSpPr>
        <p:spPr>
          <a:xfrm>
            <a:off x="6355080" y="2697480"/>
            <a:ext cx="2331720" cy="594360"/>
          </a:xfrm>
          <a:prstGeom prst="rect">
            <a:avLst/>
          </a:prstGeom>
          <a:noFill/>
          <a:ln/>
        </p:spPr>
        <p:txBody>
          <a:bodyPr wrap="square" lIns="0" tIns="0" rIns="0" bIns="0" rtlCol="0" anchor="ctr"/>
          <a:lstStyle/>
          <a:p>
            <a:pPr indent="0" marL="0">
              <a:buNone/>
            </a:pPr>
            <a:r>
              <a:rPr lang="en-US" sz="3600" b="1" dirty="0">
                <a:solidFill>
                  <a:schemeClr val="accent3"/>
                </a:solidFill>
              </a:rPr>
              <a:t>74%</a:t>
            </a:r>
            <a:endParaRPr lang="en-US" sz="3600" dirty="0"/>
          </a:p>
        </p:txBody>
      </p:sp>
      <p:sp>
        <p:nvSpPr>
          <p:cNvPr id="14" name="stat label"/>
          <p:cNvSpPr txBox="1"/>
          <p:nvPr/>
        </p:nvSpPr>
        <p:spPr>
          <a:xfrm>
            <a:off x="6355080" y="3300984"/>
            <a:ext cx="2331720" cy="566928"/>
          </a:xfrm>
          <a:prstGeom prst="rect">
            <a:avLst/>
          </a:prstGeom>
          <a:noFill/>
          <a:ln/>
        </p:spPr>
        <p:txBody>
          <a:bodyPr wrap="square" lIns="0" tIns="0" rIns="0" bIns="0" rtlCol="0" anchor="t"/>
          <a:lstStyle/>
          <a:p>
            <a:pPr indent="0" marL="0">
              <a:buNone/>
            </a:pPr>
            <a:r>
              <a:rPr lang="en-US" sz="1150" dirty="0">
                <a:solidFill>
                  <a:schemeClr val="tx1"/>
                </a:solidFill>
              </a:rPr>
              <a:t>of failed questions have the correct answer inside the question's own circle, against 89% of solved ones</a:t>
            </a:r>
            <a:endParaRPr lang="en-US" sz="1150" dirty="0"/>
          </a:p>
        </p:txBody>
      </p:sp>
      <p:sp>
        <p:nvSpPr>
          <p:cNvPr id="15" name="takeaway"/>
          <p:cNvSpPr/>
          <p:nvPr/>
        </p:nvSpPr>
        <p:spPr>
          <a:xfrm>
            <a:off x="3749040" y="3977640"/>
            <a:ext cx="4937760" cy="640080"/>
          </a:xfrm>
          <a:prstGeom prst="roundRect">
            <a:avLst>
              <a:gd name="adj" fmla="val 11429"/>
            </a:avLst>
          </a:prstGeom>
          <a:solidFill>
            <a:srgbClr val="1B3D6E"/>
          </a:solidFill>
          <a:ln w="9525">
            <a:solidFill>
              <a:srgbClr val="1B3D6E"/>
            </a:solidFill>
            <a:prstDash val="solid"/>
          </a:ln>
        </p:spPr>
      </p:sp>
      <p:sp>
        <p:nvSpPr>
          <p:cNvPr id="16" name="takeaway text"/>
          <p:cNvSpPr txBox="1"/>
          <p:nvPr/>
        </p:nvSpPr>
        <p:spPr>
          <a:xfrm>
            <a:off x="3886200" y="3977640"/>
            <a:ext cx="4663440" cy="640080"/>
          </a:xfrm>
          <a:prstGeom prst="rect">
            <a:avLst/>
          </a:prstGeom>
          <a:noFill/>
          <a:ln/>
        </p:spPr>
        <p:txBody>
          <a:bodyPr wrap="square" lIns="0" tIns="0" rIns="0" bIns="0" rtlCol="0" anchor="ctr"/>
          <a:lstStyle/>
          <a:p>
            <a:pPr indent="0" marL="0">
              <a:buNone/>
            </a:pPr>
            <a:r>
              <a:rPr lang="en-US" sz="1200" dirty="0">
                <a:solidFill>
                  <a:schemeClr val="bg1"/>
                </a:solidFill>
              </a:rPr>
              <a:t>The question sits in a sparse region, far from its own answer. Neither the question nor the centroid alone is the right place to search from.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FINDING 2</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Relevance is graded by distance</a:t>
            </a:r>
            <a:endParaRPr lang="en-US" sz="2600" dirty="0"/>
          </a:p>
        </p:txBody>
      </p:sp>
      <p:graphicFrame>
        <p:nvGraphicFramePr>
          <p:cNvPr id="5" name="Chart 0" descr=""/>
          <p:cNvGraphicFramePr/>
          <p:nvPr/>
        </p:nvGraphicFramePr>
        <p:xfrm>
          <a:off x="457200" y="123444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6" name="card Holds in every question"/>
          <p:cNvSpPr/>
          <p:nvPr/>
        </p:nvSpPr>
        <p:spPr>
          <a:xfrm>
            <a:off x="5303520" y="1234440"/>
            <a:ext cx="3383280" cy="914400"/>
          </a:xfrm>
          <a:prstGeom prst="roundRect">
            <a:avLst>
              <a:gd name="adj" fmla="val 8000"/>
            </a:avLst>
          </a:prstGeom>
          <a:solidFill>
            <a:schemeClr val="bg2"/>
          </a:solidFill>
          <a:ln w="9525">
            <a:solidFill>
              <a:schemeClr val="bg2"/>
            </a:solidFill>
            <a:prstDash val="solid"/>
          </a:ln>
        </p:spPr>
      </p:sp>
      <p:sp>
        <p:nvSpPr>
          <p:cNvPr id="7" name="card head"/>
          <p:cNvSpPr txBox="1"/>
          <p:nvPr/>
        </p:nvSpPr>
        <p:spPr>
          <a:xfrm>
            <a:off x="5440680" y="1344168"/>
            <a:ext cx="3108960" cy="274320"/>
          </a:xfrm>
          <a:prstGeom prst="rect">
            <a:avLst/>
          </a:prstGeom>
          <a:noFill/>
          <a:ln/>
        </p:spPr>
        <p:txBody>
          <a:bodyPr wrap="square" lIns="0" tIns="0" rIns="0" bIns="0" rtlCol="0" anchor="ctr"/>
          <a:lstStyle/>
          <a:p>
            <a:pPr indent="0" marL="0">
              <a:buNone/>
            </a:pPr>
            <a:r>
              <a:rPr lang="en-US" sz="1300" b="1" dirty="0">
                <a:solidFill>
                  <a:schemeClr val="accent1"/>
                </a:solidFill>
              </a:rPr>
              <a:t>Holds in every question</a:t>
            </a:r>
            <a:endParaRPr lang="en-US" sz="1300" dirty="0"/>
          </a:p>
        </p:txBody>
      </p:sp>
      <p:sp>
        <p:nvSpPr>
          <p:cNvPr id="8" name="card body"/>
          <p:cNvSpPr txBox="1"/>
          <p:nvPr/>
        </p:nvSpPr>
        <p:spPr>
          <a:xfrm>
            <a:off x="5440680" y="1645920"/>
            <a:ext cx="310896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Within each of the 196 questions, higher scores lie closer to the correct answer.</a:t>
            </a:r>
            <a:endParaRPr lang="en-US" sz="1200" dirty="0"/>
          </a:p>
        </p:txBody>
      </p:sp>
      <p:sp>
        <p:nvSpPr>
          <p:cNvPr id="9" name="card The judge is a reliable instrument"/>
          <p:cNvSpPr/>
          <p:nvPr/>
        </p:nvSpPr>
        <p:spPr>
          <a:xfrm>
            <a:off x="5303520" y="2286000"/>
            <a:ext cx="3383280" cy="960120"/>
          </a:xfrm>
          <a:prstGeom prst="roundRect">
            <a:avLst>
              <a:gd name="adj" fmla="val 7619"/>
            </a:avLst>
          </a:prstGeom>
          <a:solidFill>
            <a:schemeClr val="bg2"/>
          </a:solidFill>
          <a:ln w="9525">
            <a:solidFill>
              <a:schemeClr val="bg2"/>
            </a:solidFill>
            <a:prstDash val="solid"/>
          </a:ln>
        </p:spPr>
      </p:sp>
      <p:sp>
        <p:nvSpPr>
          <p:cNvPr id="10" name="card head"/>
          <p:cNvSpPr txBox="1"/>
          <p:nvPr/>
        </p:nvSpPr>
        <p:spPr>
          <a:xfrm>
            <a:off x="5440680" y="2395728"/>
            <a:ext cx="3108960" cy="274320"/>
          </a:xfrm>
          <a:prstGeom prst="rect">
            <a:avLst/>
          </a:prstGeom>
          <a:noFill/>
          <a:ln/>
        </p:spPr>
        <p:txBody>
          <a:bodyPr wrap="square" lIns="0" tIns="0" rIns="0" bIns="0" rtlCol="0" anchor="ctr"/>
          <a:lstStyle/>
          <a:p>
            <a:pPr indent="0" marL="0">
              <a:buNone/>
            </a:pPr>
            <a:r>
              <a:rPr lang="en-US" sz="1300" b="1" dirty="0">
                <a:solidFill>
                  <a:schemeClr val="accent1"/>
                </a:solidFill>
              </a:rPr>
              <a:t>The judge is a reliable instrument</a:t>
            </a:r>
            <a:endParaRPr lang="en-US" sz="1300" dirty="0"/>
          </a:p>
        </p:txBody>
      </p:sp>
      <p:sp>
        <p:nvSpPr>
          <p:cNvPr id="11" name="card body"/>
          <p:cNvSpPr txBox="1"/>
          <p:nvPr/>
        </p:nvSpPr>
        <p:spPr>
          <a:xfrm>
            <a:off x="5440680" y="2697480"/>
            <a:ext cx="31089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When it says 'fully relevant', the document is geometrically near the answer.</a:t>
            </a:r>
            <a:endParaRPr lang="en-US" sz="1200" dirty="0"/>
          </a:p>
        </p:txBody>
      </p:sp>
      <p:sp>
        <p:nvSpPr>
          <p:cNvPr id="12" name="card But it cannot replace geometry"/>
          <p:cNvSpPr/>
          <p:nvPr/>
        </p:nvSpPr>
        <p:spPr>
          <a:xfrm>
            <a:off x="5303520" y="3383280"/>
            <a:ext cx="3383280" cy="1188720"/>
          </a:xfrm>
          <a:prstGeom prst="roundRect">
            <a:avLst>
              <a:gd name="adj" fmla="val 6154"/>
            </a:avLst>
          </a:prstGeom>
          <a:solidFill>
            <a:srgbClr val="FBEFE3"/>
          </a:solidFill>
          <a:ln w="9525">
            <a:solidFill>
              <a:srgbClr val="FBEFE3"/>
            </a:solidFill>
            <a:prstDash val="solid"/>
          </a:ln>
        </p:spPr>
      </p:sp>
      <p:sp>
        <p:nvSpPr>
          <p:cNvPr id="13" name="card head"/>
          <p:cNvSpPr txBox="1"/>
          <p:nvPr/>
        </p:nvSpPr>
        <p:spPr>
          <a:xfrm>
            <a:off x="5440680" y="3493008"/>
            <a:ext cx="3108960" cy="274320"/>
          </a:xfrm>
          <a:prstGeom prst="rect">
            <a:avLst/>
          </a:prstGeom>
          <a:noFill/>
          <a:ln/>
        </p:spPr>
        <p:txBody>
          <a:bodyPr wrap="square" lIns="0" tIns="0" rIns="0" bIns="0" rtlCol="0" anchor="ctr"/>
          <a:lstStyle/>
          <a:p>
            <a:pPr indent="0" marL="0">
              <a:buNone/>
            </a:pPr>
            <a:r>
              <a:rPr lang="en-US" sz="1300" b="1" dirty="0">
                <a:solidFill>
                  <a:schemeClr val="accent2"/>
                </a:solidFill>
              </a:rPr>
              <a:t>But it cannot replace geometry</a:t>
            </a:r>
            <a:endParaRPr lang="en-US" sz="1300" dirty="0"/>
          </a:p>
        </p:txBody>
      </p:sp>
      <p:sp>
        <p:nvSpPr>
          <p:cNvPr id="14" name="card body"/>
          <p:cNvSpPr txBox="1"/>
          <p:nvPr/>
        </p:nvSpPr>
        <p:spPr>
          <a:xfrm>
            <a:off x="5440680" y="3794760"/>
            <a:ext cx="3108960" cy="6858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Re-ordering B1's top-5 purely by judge score drops Top-1 from 70.4% to 40.8%: about 17 documents per question tie at the top score.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FINDING 3</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Fixed rules barely help, and most failures are soft</a:t>
            </a:r>
            <a:endParaRPr lang="en-US" sz="2600" dirty="0"/>
          </a:p>
        </p:txBody>
      </p:sp>
      <p:graphicFrame>
        <p:nvGraphicFramePr>
          <p:cNvPr id="10" name="results table"/>
          <p:cNvGraphicFramePr>
            <a:graphicFrameLocks noGrp="1"/>
          </p:cNvGraphicFramePr>
          <p:nvPr>
            <p:extLst>
              <p:ext uri="{D42A27DB-BD31-4B8C-83A1-F6EECF244321}">
                <p14:modId xmlns:p14="http://schemas.microsoft.com/office/powerpoint/2010/main" val="1579011935"/>
              </p:ext>
            </p:extLst>
          </p:nvPr>
        </p:nvGraphicFramePr>
        <p:xfrm>
          <a:off x="457200" y="1234440"/>
          <a:ext cx="5394960" cy="914400"/>
        </p:xfrm>
        <a:graphic>
          <a:graphicData uri="http://schemas.openxmlformats.org/drawingml/2006/table">
            <a:tbl>
              <a:tblPr/>
              <a:tblGrid>
                <a:gridCol w="2926080"/>
                <a:gridCol w="822960"/>
                <a:gridCol w="822960"/>
                <a:gridCol w="822960"/>
              </a:tblGrid>
              <a:tr h="274320">
                <a:tc>
                  <a:txBody>
                    <a:bodyPr/>
                    <a:lstStyle/>
                    <a:p>
                      <a:pPr indent="0" marL="0">
                        <a:buNone/>
                      </a:pPr>
                      <a:r>
                        <a:rPr lang="en-US" sz="1050" b="1" dirty="0">
                          <a:solidFill>
                            <a:srgbClr val="FFFFFF"/>
                          </a:solidFill>
                          <a:latin typeface="+mn-lt" pitchFamily="34" charset="0"/>
                          <a:ea typeface="+mn-lt" pitchFamily="34" charset="-122"/>
                          <a:cs typeface="+mn-lt" pitchFamily="34" charset="-120"/>
                        </a:rPr>
                        <a:t>Method (ranks the pool by ...)</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algn="ctr" indent="0" marL="0">
                        <a:buNone/>
                      </a:pPr>
                      <a:r>
                        <a:rPr lang="en-US" sz="1050" b="1" dirty="0">
                          <a:solidFill>
                            <a:srgbClr val="FFFFFF"/>
                          </a:solidFill>
                          <a:latin typeface="+mn-lt" pitchFamily="34" charset="0"/>
                          <a:ea typeface="+mn-lt" pitchFamily="34" charset="-122"/>
                          <a:cs typeface="+mn-lt" pitchFamily="34" charset="-120"/>
                        </a:rPr>
                        <a:t>Mean rank</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algn="ctr" indent="0" marL="0">
                        <a:buNone/>
                      </a:pPr>
                      <a:r>
                        <a:rPr lang="en-US" sz="1050" b="1" dirty="0">
                          <a:solidFill>
                            <a:srgbClr val="FFFFFF"/>
                          </a:solidFill>
                          <a:latin typeface="+mn-lt" pitchFamily="34" charset="0"/>
                          <a:ea typeface="+mn-lt" pitchFamily="34" charset="-122"/>
                          <a:cs typeface="+mn-lt" pitchFamily="34" charset="-120"/>
                        </a:rPr>
                        <a:t>Top-1</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algn="ctr" indent="0" marL="0">
                        <a:buNone/>
                      </a:pPr>
                      <a:r>
                        <a:rPr lang="en-US" sz="1050" b="1" dirty="0">
                          <a:solidFill>
                            <a:srgbClr val="FFFFFF"/>
                          </a:solidFill>
                          <a:latin typeface="+mn-lt" pitchFamily="34" charset="0"/>
                          <a:ea typeface="+mn-lt" pitchFamily="34" charset="-122"/>
                          <a:cs typeface="+mn-lt" pitchFamily="34" charset="-120"/>
                        </a:rPr>
                        <a:t>Top-10</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r>
              <a:tr h="274320">
                <a:tc>
                  <a:txBody>
                    <a:bodyPr/>
                    <a:lstStyle/>
                    <a:p>
                      <a:pPr indent="0" marL="0">
                        <a:buNone/>
                      </a:pPr>
                      <a:r>
                        <a:rPr lang="en-US" sz="1050" dirty="0">
                          <a:solidFill>
                            <a:srgbClr val="1E2633"/>
                          </a:solidFill>
                          <a:latin typeface="+mn-lt" pitchFamily="34" charset="0"/>
                          <a:ea typeface="+mn-lt" pitchFamily="34" charset="-122"/>
                          <a:cs typeface="+mn-lt" pitchFamily="34" charset="-120"/>
                        </a:rPr>
                        <a:t>B1: distance to the question (standard retriever)</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FE3"/>
                    </a:solidFill>
                  </a:tcPr>
                </a:tc>
                <a:tc>
                  <a:txBody>
                    <a:bodyPr/>
                    <a:lstStyle/>
                    <a:p>
                      <a:pPr algn="ctr" indent="0" marL="0">
                        <a:buNone/>
                      </a:pPr>
                      <a:r>
                        <a:rPr lang="en-US" sz="1050" b="1" dirty="0">
                          <a:solidFill>
                            <a:srgbClr val="1E2633"/>
                          </a:solidFill>
                          <a:latin typeface="+mn-lt" pitchFamily="34" charset="0"/>
                          <a:ea typeface="+mn-lt" pitchFamily="34" charset="-122"/>
                          <a:cs typeface="+mn-lt" pitchFamily="34" charset="-120"/>
                        </a:rPr>
                        <a:t>3.29</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FE3"/>
                    </a:solidFill>
                  </a:tcPr>
                </a:tc>
                <a:tc>
                  <a:txBody>
                    <a:bodyPr/>
                    <a:lstStyle/>
                    <a:p>
                      <a:pPr algn="ctr" indent="0" marL="0">
                        <a:buNone/>
                      </a:pPr>
                      <a:r>
                        <a:rPr lang="en-US" sz="1050" b="1" dirty="0">
                          <a:solidFill>
                            <a:srgbClr val="1E2633"/>
                          </a:solidFill>
                          <a:latin typeface="+mn-lt" pitchFamily="34" charset="0"/>
                          <a:ea typeface="+mn-lt" pitchFamily="34" charset="-122"/>
                          <a:cs typeface="+mn-lt" pitchFamily="34" charset="-120"/>
                        </a:rPr>
                        <a:t>70.4%</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FE3"/>
                    </a:solidFill>
                  </a:tcPr>
                </a:tc>
                <a:tc>
                  <a:txBody>
                    <a:bodyPr/>
                    <a:lstStyle/>
                    <a:p>
                      <a:pPr algn="ctr" indent="0" marL="0">
                        <a:buNone/>
                      </a:pPr>
                      <a:r>
                        <a:rPr lang="en-US" sz="1050" b="1" dirty="0">
                          <a:solidFill>
                            <a:srgbClr val="1E2633"/>
                          </a:solidFill>
                          <a:latin typeface="+mn-lt" pitchFamily="34" charset="0"/>
                          <a:ea typeface="+mn-lt" pitchFamily="34" charset="-122"/>
                          <a:cs typeface="+mn-lt" pitchFamily="34" charset="-120"/>
                        </a:rPr>
                        <a:t>91.8%</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FE3"/>
                    </a:solidFill>
                  </a:tcPr>
                </a:tc>
              </a:tr>
              <a:tr h="274320">
                <a:tc>
                  <a:txBody>
                    <a:bodyPr/>
                    <a:lstStyle/>
                    <a:p>
                      <a:pPr indent="0" marL="0">
                        <a:buNone/>
                      </a:pPr>
                      <a:r>
                        <a:rPr lang="en-US" sz="1050" dirty="0">
                          <a:solidFill>
                            <a:srgbClr val="1E2633"/>
                          </a:solidFill>
                          <a:latin typeface="+mn-lt" pitchFamily="34" charset="0"/>
                          <a:ea typeface="+mn-lt" pitchFamily="34" charset="-122"/>
                          <a:cs typeface="+mn-lt" pitchFamily="34" charset="-120"/>
                        </a:rPr>
                        <a:t>B2: distance to the oracle centroid C</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9.87</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14.8%</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62.8%</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E2633"/>
                          </a:solidFill>
                          <a:latin typeface="+mn-lt" pitchFamily="34" charset="0"/>
                          <a:ea typeface="+mn-lt" pitchFamily="34" charset="-122"/>
                          <a:cs typeface="+mn-lt" pitchFamily="34" charset="-120"/>
                        </a:rPr>
                        <a:t>H1: 0.93 d(Q) + 0.07 d(C)</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3.35</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71.4%</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90.8%</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E2633"/>
                          </a:solidFill>
                          <a:latin typeface="+mn-lt" pitchFamily="34" charset="0"/>
                          <a:ea typeface="+mn-lt" pitchFamily="34" charset="-122"/>
                          <a:cs typeface="+mn-lt" pitchFamily="34" charset="-120"/>
                        </a:rPr>
                        <a:t>H2: B1 order, centroid breaks ties</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3.29</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70.4%</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91.8%</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E2633"/>
                          </a:solidFill>
                          <a:latin typeface="+mn-lt" pitchFamily="34" charset="0"/>
                          <a:ea typeface="+mn-lt" pitchFamily="34" charset="-122"/>
                          <a:cs typeface="+mn-lt" pitchFamily="34" charset="-120"/>
                        </a:rPr>
                        <a:t>H3: B1's top-10 re-ordered by d(C)</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5.05</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17.9%</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91.8%</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E2633"/>
                          </a:solidFill>
                          <a:latin typeface="+mn-lt" pitchFamily="34" charset="0"/>
                          <a:ea typeface="+mn-lt" pitchFamily="34" charset="-122"/>
                          <a:cs typeface="+mn-lt" pitchFamily="34" charset="-120"/>
                        </a:rPr>
                        <a:t>Relevance feedback: centroid of judged top-5</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4.90</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31.1%</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E2633"/>
                          </a:solidFill>
                          <a:latin typeface="+mn-lt" pitchFamily="34" charset="0"/>
                          <a:ea typeface="+mn-lt" pitchFamily="34" charset="-122"/>
                          <a:cs typeface="+mn-lt" pitchFamily="34" charset="-120"/>
                        </a:rPr>
                        <a:t>LLM re-ranking of B1's top-5</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2.35</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40.8%</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633"/>
                          </a:solidFill>
                          <a:latin typeface="+mn-lt" pitchFamily="34" charset="0"/>
                          <a:ea typeface="+mn-lt" pitchFamily="34" charset="-122"/>
                          <a:cs typeface="+mn-lt" pitchFamily="34" charset="-120"/>
                        </a:rPr>
                        <a:t>-</a:t>
                      </a:r>
                      <a:endParaRPr lang="en-US" sz="1050" dirty="0">
                        <a:latin typeface="+mn-lt" charset="0"/>
                        <a:ea typeface="+mn-lt" charset="0"/>
                        <a:cs typeface="+mn-lt" charset="0"/>
                      </a:endParaRPr>
                    </a:p>
                  </a:txBody>
                  <a:tcPr marL="36576" marR="36576" marT="36576" marB="36576">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6" name="table caption"/>
          <p:cNvSpPr txBox="1"/>
          <p:nvPr/>
        </p:nvSpPr>
        <p:spPr>
          <a:xfrm>
            <a:off x="457200" y="3520440"/>
            <a:ext cx="5394960" cy="201168"/>
          </a:xfrm>
          <a:prstGeom prst="rect">
            <a:avLst/>
          </a:prstGeom>
          <a:noFill/>
          <a:ln/>
        </p:spPr>
        <p:txBody>
          <a:bodyPr wrap="square" lIns="0" tIns="0" rIns="0" bIns="0" rtlCol="0" anchor="ctr"/>
          <a:lstStyle/>
          <a:p>
            <a:pPr indent="0" marL="0">
              <a:buNone/>
            </a:pPr>
            <a:r>
              <a:rPr lang="en-US" sz="900" i="1" dirty="0">
                <a:solidFill>
                  <a:schemeClr val="accent5"/>
                </a:solidFill>
              </a:rPr>
              <a:t>Over 196 questions. Mean rank = average position of the correct document.</a:t>
            </a:r>
            <a:endParaRPr lang="en-US" sz="900" dirty="0"/>
          </a:p>
        </p:txBody>
      </p:sp>
      <p:sp>
        <p:nvSpPr>
          <p:cNvPr id="7" name="stat 79%"/>
          <p:cNvSpPr txBox="1"/>
          <p:nvPr/>
        </p:nvSpPr>
        <p:spPr>
          <a:xfrm>
            <a:off x="6126480" y="1234440"/>
            <a:ext cx="2560320" cy="594360"/>
          </a:xfrm>
          <a:prstGeom prst="rect">
            <a:avLst/>
          </a:prstGeom>
          <a:noFill/>
          <a:ln/>
        </p:spPr>
        <p:txBody>
          <a:bodyPr wrap="square" lIns="0" tIns="0" rIns="0" bIns="0" rtlCol="0" anchor="ctr"/>
          <a:lstStyle/>
          <a:p>
            <a:pPr indent="0" marL="0">
              <a:buNone/>
            </a:pPr>
            <a:r>
              <a:rPr lang="en-US" sz="3600" b="1" dirty="0">
                <a:solidFill>
                  <a:schemeClr val="accent2"/>
                </a:solidFill>
              </a:rPr>
              <a:t>79%</a:t>
            </a:r>
            <a:endParaRPr lang="en-US" sz="3600" dirty="0"/>
          </a:p>
        </p:txBody>
      </p:sp>
      <p:sp>
        <p:nvSpPr>
          <p:cNvPr id="8" name="stat label"/>
          <p:cNvSpPr txBox="1"/>
          <p:nvPr/>
        </p:nvSpPr>
        <p:spPr>
          <a:xfrm>
            <a:off x="6126480" y="1837944"/>
            <a:ext cx="2560320" cy="566928"/>
          </a:xfrm>
          <a:prstGeom prst="rect">
            <a:avLst/>
          </a:prstGeom>
          <a:noFill/>
          <a:ln/>
        </p:spPr>
        <p:txBody>
          <a:bodyPr wrap="square" lIns="0" tIns="0" rIns="0" bIns="0" rtlCol="0" anchor="t"/>
          <a:lstStyle/>
          <a:p>
            <a:pPr indent="0" marL="0">
              <a:buNone/>
            </a:pPr>
            <a:r>
              <a:rPr lang="en-US" sz="1150" dirty="0">
                <a:solidFill>
                  <a:schemeClr val="tx1"/>
                </a:solidFill>
              </a:rPr>
              <a:t>of B1's 58 'failures' return first a document the judge scores 1.0, as relevant as the labeled answer</a:t>
            </a:r>
            <a:endParaRPr lang="en-US" sz="1150" dirty="0"/>
          </a:p>
        </p:txBody>
      </p:sp>
      <p:sp>
        <p:nvSpPr>
          <p:cNvPr id="9" name="stat 100%"/>
          <p:cNvSpPr txBox="1"/>
          <p:nvPr/>
        </p:nvSpPr>
        <p:spPr>
          <a:xfrm>
            <a:off x="6126480" y="2606040"/>
            <a:ext cx="2560320" cy="594360"/>
          </a:xfrm>
          <a:prstGeom prst="rect">
            <a:avLst/>
          </a:prstGeom>
          <a:noFill/>
          <a:ln/>
        </p:spPr>
        <p:txBody>
          <a:bodyPr wrap="square" lIns="0" tIns="0" rIns="0" bIns="0" rtlCol="0" anchor="ctr"/>
          <a:lstStyle/>
          <a:p>
            <a:pPr indent="0" marL="0">
              <a:buNone/>
            </a:pPr>
            <a:r>
              <a:rPr lang="en-US" sz="3600" b="1" dirty="0">
                <a:solidFill>
                  <a:schemeClr val="accent1"/>
                </a:solidFill>
              </a:rPr>
              <a:t>100%</a:t>
            </a:r>
            <a:endParaRPr lang="en-US" sz="3600" dirty="0"/>
          </a:p>
        </p:txBody>
      </p:sp>
      <p:sp>
        <p:nvSpPr>
          <p:cNvPr id="10" name="stat label"/>
          <p:cNvSpPr txBox="1"/>
          <p:nvPr/>
        </p:nvSpPr>
        <p:spPr>
          <a:xfrm>
            <a:off x="6126480" y="3209544"/>
            <a:ext cx="2560320" cy="566928"/>
          </a:xfrm>
          <a:prstGeom prst="rect">
            <a:avLst/>
          </a:prstGeom>
          <a:noFill/>
          <a:ln/>
        </p:spPr>
        <p:txBody>
          <a:bodyPr wrap="square" lIns="0" tIns="0" rIns="0" bIns="0" rtlCol="0" anchor="t"/>
          <a:lstStyle/>
          <a:p>
            <a:pPr indent="0" marL="0">
              <a:buNone/>
            </a:pPr>
            <a:r>
              <a:rPr lang="en-US" sz="1150" dirty="0">
                <a:solidFill>
                  <a:schemeClr val="tx1"/>
                </a:solidFill>
              </a:rPr>
              <a:t>of the failing questions have a fully relevant document in their top 10</a:t>
            </a:r>
            <a:endParaRPr lang="en-US" sz="1150" dirty="0"/>
          </a:p>
        </p:txBody>
      </p:sp>
      <p:sp>
        <p:nvSpPr>
          <p:cNvPr id="11" name="takeaway"/>
          <p:cNvSpPr/>
          <p:nvPr/>
        </p:nvSpPr>
        <p:spPr>
          <a:xfrm>
            <a:off x="457200" y="3931920"/>
            <a:ext cx="8229600" cy="658368"/>
          </a:xfrm>
          <a:prstGeom prst="roundRect">
            <a:avLst>
              <a:gd name="adj" fmla="val 11111"/>
            </a:avLst>
          </a:prstGeom>
          <a:solidFill>
            <a:srgbClr val="1B3D6E"/>
          </a:solidFill>
          <a:ln w="9525">
            <a:solidFill>
              <a:srgbClr val="1B3D6E"/>
            </a:solidFill>
            <a:prstDash val="solid"/>
          </a:ln>
        </p:spPr>
      </p:sp>
      <p:sp>
        <p:nvSpPr>
          <p:cNvPr id="12" name="takeaway text"/>
          <p:cNvSpPr txBox="1"/>
          <p:nvPr/>
        </p:nvSpPr>
        <p:spPr>
          <a:xfrm>
            <a:off x="640080" y="3931920"/>
            <a:ext cx="7863840" cy="658368"/>
          </a:xfrm>
          <a:prstGeom prst="rect">
            <a:avLst/>
          </a:prstGeom>
          <a:noFill/>
          <a:ln/>
        </p:spPr>
        <p:txBody>
          <a:bodyPr wrap="square" lIns="0" tIns="0" rIns="0" bIns="0" rtlCol="0" anchor="ctr"/>
          <a:lstStyle/>
          <a:p>
            <a:pPr indent="0" marL="0">
              <a:buNone/>
            </a:pPr>
            <a:r>
              <a:rPr lang="en-US" sz="1300" dirty="0">
                <a:solidFill>
                  <a:schemeClr val="bg1"/>
                </a:solidFill>
              </a:rPr>
              <a:t>A fixed pull toward the centroid gains one point at best. The rule has to adapt to the geometry of each question, and success has to be counted both exactly and softly.</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RESEARCH QUESTIONS</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Three questions, one per goal</a:t>
            </a:r>
            <a:endParaRPr lang="en-US" sz="2600" dirty="0"/>
          </a:p>
        </p:txBody>
      </p:sp>
      <p:sp>
        <p:nvSpPr>
          <p:cNvPr id="5" name="rq card"/>
          <p:cNvSpPr/>
          <p:nvPr/>
        </p:nvSpPr>
        <p:spPr>
          <a:xfrm>
            <a:off x="457200" y="1280160"/>
            <a:ext cx="8229600" cy="987552"/>
          </a:xfrm>
          <a:prstGeom prst="roundRect">
            <a:avLst>
              <a:gd name="adj" fmla="val 7407"/>
            </a:avLst>
          </a:prstGeom>
          <a:solidFill>
            <a:schemeClr val="bg2"/>
          </a:solidFill>
          <a:ln w="9525">
            <a:solidFill>
              <a:schemeClr val="bg2"/>
            </a:solidFill>
            <a:prstDash val="solid"/>
          </a:ln>
        </p:spPr>
      </p:sp>
      <p:sp>
        <p:nvSpPr>
          <p:cNvPr id="6" name="circle RQ1"/>
          <p:cNvSpPr/>
          <p:nvPr/>
        </p:nvSpPr>
        <p:spPr>
          <a:xfrm>
            <a:off x="640080" y="1581912"/>
            <a:ext cx="457200" cy="457200"/>
          </a:xfrm>
          <a:prstGeom prst="ellipse">
            <a:avLst/>
          </a:prstGeom>
          <a:solidFill>
            <a:schemeClr val="accent1"/>
          </a:solidFill>
          <a:ln w="12700">
            <a:solidFill>
              <a:schemeClr val="accent1"/>
            </a:solidFill>
            <a:prstDash val="solid"/>
          </a:ln>
        </p:spPr>
      </p:sp>
      <p:sp>
        <p:nvSpPr>
          <p:cNvPr id="7" name="circle label"/>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RQ1</a:t>
            </a:r>
            <a:endParaRPr lang="en-US" sz="1300" dirty="0"/>
          </a:p>
        </p:txBody>
      </p:sp>
      <p:sp>
        <p:nvSpPr>
          <p:cNvPr id="8" name="rq text"/>
          <p:cNvSpPr txBox="1"/>
          <p:nvPr/>
        </p:nvSpPr>
        <p:spPr>
          <a:xfrm>
            <a:off x="1280160" y="1371600"/>
            <a:ext cx="4480560" cy="822960"/>
          </a:xfrm>
          <a:prstGeom prst="rect">
            <a:avLst/>
          </a:prstGeom>
          <a:noFill/>
          <a:ln/>
        </p:spPr>
        <p:txBody>
          <a:bodyPr wrap="square" lIns="0" tIns="0" rIns="0" bIns="0" rtlCol="0" anchor="ctr"/>
          <a:lstStyle/>
          <a:p>
            <a:pPr indent="0" marL="0">
              <a:buNone/>
            </a:pPr>
            <a:r>
              <a:rPr lang="en-US" sz="1300" b="1" dirty="0">
                <a:solidFill>
                  <a:schemeClr val="accent1"/>
                </a:solidFill>
              </a:rPr>
              <a:t>What does the embedding space look like around a question, and does that geometry tell us when the retriever will fail?</a:t>
            </a:r>
            <a:endParaRPr lang="en-US" sz="1300" dirty="0"/>
          </a:p>
        </p:txBody>
      </p:sp>
      <p:sp>
        <p:nvSpPr>
          <p:cNvPr id="9" name="rq contribution"/>
          <p:cNvSpPr txBox="1"/>
          <p:nvPr/>
        </p:nvSpPr>
        <p:spPr>
          <a:xfrm>
            <a:off x="5897880" y="1371600"/>
            <a:ext cx="2651760" cy="822960"/>
          </a:xfrm>
          <a:prstGeom prst="rect">
            <a:avLst/>
          </a:prstGeom>
          <a:noFill/>
          <a:ln/>
        </p:spPr>
        <p:txBody>
          <a:bodyPr wrap="square" lIns="0" tIns="0" rIns="0" bIns="0" rtlCol="0" anchor="ctr"/>
          <a:lstStyle/>
          <a:p>
            <a:pPr indent="0" marL="0">
              <a:buNone/>
            </a:pPr>
            <a:r>
              <a:rPr lang="en-US" sz="1100" b="1" dirty="0">
                <a:solidFill>
                  <a:schemeClr val="accent3"/>
                </a:solidFill>
              </a:rPr>
              <a:t>Expected contribution. </a:t>
            </a:r>
            <a:pPr indent="0" marL="0">
              <a:buNone/>
            </a:pPr>
            <a:r>
              <a:rPr lang="en-US" sz="1100" dirty="0">
                <a:solidFill>
                  <a:schemeClr val="tx1"/>
                </a:solidFill>
              </a:rPr>
              <a:t>A measured description of the space and a failure predictor that needs no relevance labels at run time.</a:t>
            </a:r>
            <a:endParaRPr lang="en-US" sz="1100" dirty="0"/>
          </a:p>
        </p:txBody>
      </p:sp>
      <p:sp>
        <p:nvSpPr>
          <p:cNvPr id="10" name="rq card"/>
          <p:cNvSpPr/>
          <p:nvPr/>
        </p:nvSpPr>
        <p:spPr>
          <a:xfrm>
            <a:off x="457200" y="2395728"/>
            <a:ext cx="8229600" cy="987552"/>
          </a:xfrm>
          <a:prstGeom prst="roundRect">
            <a:avLst>
              <a:gd name="adj" fmla="val 7407"/>
            </a:avLst>
          </a:prstGeom>
          <a:solidFill>
            <a:srgbClr val="FBEFE3"/>
          </a:solidFill>
          <a:ln w="9525">
            <a:solidFill>
              <a:srgbClr val="FBEFE3"/>
            </a:solidFill>
            <a:prstDash val="solid"/>
          </a:ln>
        </p:spPr>
      </p:sp>
      <p:sp>
        <p:nvSpPr>
          <p:cNvPr id="11" name="circle RQ2"/>
          <p:cNvSpPr/>
          <p:nvPr/>
        </p:nvSpPr>
        <p:spPr>
          <a:xfrm>
            <a:off x="640080" y="2697480"/>
            <a:ext cx="457200" cy="457200"/>
          </a:xfrm>
          <a:prstGeom prst="ellipse">
            <a:avLst/>
          </a:prstGeom>
          <a:solidFill>
            <a:schemeClr val="accent2"/>
          </a:solidFill>
          <a:ln w="12700">
            <a:solidFill>
              <a:schemeClr val="accent2"/>
            </a:solidFill>
            <a:prstDash val="solid"/>
          </a:ln>
        </p:spPr>
      </p:sp>
      <p:sp>
        <p:nvSpPr>
          <p:cNvPr id="12" name="circle label"/>
          <p:cNvSpPr txBox="1"/>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RQ2</a:t>
            </a:r>
            <a:endParaRPr lang="en-US" sz="1300" dirty="0"/>
          </a:p>
        </p:txBody>
      </p:sp>
      <p:sp>
        <p:nvSpPr>
          <p:cNvPr id="13" name="rq text"/>
          <p:cNvSpPr txBox="1"/>
          <p:nvPr/>
        </p:nvSpPr>
        <p:spPr>
          <a:xfrm>
            <a:off x="1280160" y="2487168"/>
            <a:ext cx="4480560" cy="822960"/>
          </a:xfrm>
          <a:prstGeom prst="rect">
            <a:avLst/>
          </a:prstGeom>
          <a:noFill/>
          <a:ln/>
        </p:spPr>
        <p:txBody>
          <a:bodyPr wrap="square" lIns="0" tIns="0" rIns="0" bIns="0" rtlCol="0" anchor="ctr"/>
          <a:lstStyle/>
          <a:p>
            <a:pPr indent="0" marL="0">
              <a:buNone/>
            </a:pPr>
            <a:r>
              <a:rPr lang="en-US" sz="1300" b="1" dirty="0">
                <a:solidFill>
                  <a:schemeClr val="accent1"/>
                </a:solidFill>
              </a:rPr>
              <a:t>Can a geometric heuristic that moves the search anchor improve retrieval?</a:t>
            </a:r>
            <a:endParaRPr lang="en-US" sz="1300" dirty="0"/>
          </a:p>
        </p:txBody>
      </p:sp>
      <p:sp>
        <p:nvSpPr>
          <p:cNvPr id="14" name="rq contribution"/>
          <p:cNvSpPr txBox="1"/>
          <p:nvPr/>
        </p:nvSpPr>
        <p:spPr>
          <a:xfrm>
            <a:off x="5897880" y="2487168"/>
            <a:ext cx="2651760" cy="822960"/>
          </a:xfrm>
          <a:prstGeom prst="rect">
            <a:avLst/>
          </a:prstGeom>
          <a:noFill/>
          <a:ln/>
        </p:spPr>
        <p:txBody>
          <a:bodyPr wrap="square" lIns="0" tIns="0" rIns="0" bIns="0" rtlCol="0" anchor="ctr"/>
          <a:lstStyle/>
          <a:p>
            <a:pPr indent="0" marL="0">
              <a:buNone/>
            </a:pPr>
            <a:r>
              <a:rPr lang="en-US" sz="1100" b="1" dirty="0">
                <a:solidFill>
                  <a:schemeClr val="accent3"/>
                </a:solidFill>
              </a:rPr>
              <a:t>Expected contribution. </a:t>
            </a:r>
            <a:pPr indent="0" marL="0">
              <a:buNone/>
            </a:pPr>
            <a:r>
              <a:rPr lang="en-US" sz="1100" dirty="0">
                <a:solidFill>
                  <a:schemeClr val="tx1"/>
                </a:solidFill>
              </a:rPr>
              <a:t>A one-shot anchor heuristic, the amount of movement set from the measured geometry, and the conditions under which it helps.</a:t>
            </a:r>
            <a:endParaRPr lang="en-US" sz="1100" dirty="0"/>
          </a:p>
        </p:txBody>
      </p:sp>
      <p:sp>
        <p:nvSpPr>
          <p:cNvPr id="15" name="rq card"/>
          <p:cNvSpPr/>
          <p:nvPr/>
        </p:nvSpPr>
        <p:spPr>
          <a:xfrm>
            <a:off x="457200" y="3511296"/>
            <a:ext cx="8229600" cy="987552"/>
          </a:xfrm>
          <a:prstGeom prst="roundRect">
            <a:avLst>
              <a:gd name="adj" fmla="val 7407"/>
            </a:avLst>
          </a:prstGeom>
          <a:solidFill>
            <a:schemeClr val="bg2"/>
          </a:solidFill>
          <a:ln w="9525">
            <a:solidFill>
              <a:schemeClr val="bg2"/>
            </a:solidFill>
            <a:prstDash val="solid"/>
          </a:ln>
        </p:spPr>
      </p:sp>
      <p:sp>
        <p:nvSpPr>
          <p:cNvPr id="16" name="circle RQ3"/>
          <p:cNvSpPr/>
          <p:nvPr/>
        </p:nvSpPr>
        <p:spPr>
          <a:xfrm>
            <a:off x="640080" y="3813048"/>
            <a:ext cx="457200" cy="457200"/>
          </a:xfrm>
          <a:prstGeom prst="ellipse">
            <a:avLst/>
          </a:prstGeom>
          <a:solidFill>
            <a:schemeClr val="accent1"/>
          </a:solidFill>
          <a:ln w="12700">
            <a:solidFill>
              <a:schemeClr val="accent1"/>
            </a:solidFill>
            <a:prstDash val="solid"/>
          </a:ln>
        </p:spPr>
      </p:sp>
      <p:sp>
        <p:nvSpPr>
          <p:cNvPr id="17" name="circle label"/>
          <p:cNvSpPr txBox="1"/>
          <p:nvPr/>
        </p:nvSpPr>
        <p:spPr>
          <a:xfrm>
            <a:off x="640080" y="38130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RQ3</a:t>
            </a:r>
            <a:endParaRPr lang="en-US" sz="1300" dirty="0"/>
          </a:p>
        </p:txBody>
      </p:sp>
      <p:sp>
        <p:nvSpPr>
          <p:cNvPr id="18" name="rq text"/>
          <p:cNvSpPr txBox="1"/>
          <p:nvPr/>
        </p:nvSpPr>
        <p:spPr>
          <a:xfrm>
            <a:off x="1280160" y="3602736"/>
            <a:ext cx="4480560" cy="822960"/>
          </a:xfrm>
          <a:prstGeom prst="rect">
            <a:avLst/>
          </a:prstGeom>
          <a:noFill/>
          <a:ln/>
        </p:spPr>
        <p:txBody>
          <a:bodyPr wrap="square" lIns="0" tIns="0" rIns="0" bIns="0" rtlCol="0" anchor="ctr"/>
          <a:lstStyle/>
          <a:p>
            <a:pPr indent="0" marL="0">
              <a:buNone/>
            </a:pPr>
            <a:r>
              <a:rPr lang="en-US" sz="1300" b="1" dirty="0">
                <a:solidFill>
                  <a:schemeClr val="accent1"/>
                </a:solidFill>
              </a:rPr>
              <a:t>For the questions where the retriever fails, does an iterative search that keeps moving the anchor do better at the same inspection budget?</a:t>
            </a:r>
            <a:endParaRPr lang="en-US" sz="1300" dirty="0"/>
          </a:p>
        </p:txBody>
      </p:sp>
      <p:sp>
        <p:nvSpPr>
          <p:cNvPr id="19" name="rq contribution"/>
          <p:cNvSpPr txBox="1"/>
          <p:nvPr/>
        </p:nvSpPr>
        <p:spPr>
          <a:xfrm>
            <a:off x="5897880" y="3602736"/>
            <a:ext cx="2651760" cy="822960"/>
          </a:xfrm>
          <a:prstGeom prst="rect">
            <a:avLst/>
          </a:prstGeom>
          <a:noFill/>
          <a:ln/>
        </p:spPr>
        <p:txBody>
          <a:bodyPr wrap="square" lIns="0" tIns="0" rIns="0" bIns="0" rtlCol="0" anchor="ctr"/>
          <a:lstStyle/>
          <a:p>
            <a:pPr indent="0" marL="0">
              <a:buNone/>
            </a:pPr>
            <a:r>
              <a:rPr lang="en-US" sz="1100" b="1" dirty="0">
                <a:solidFill>
                  <a:schemeClr val="accent3"/>
                </a:solidFill>
              </a:rPr>
              <a:t>Expected contribution. </a:t>
            </a:r>
            <a:pPr indent="0" marL="0">
              <a:buNone/>
            </a:pPr>
            <a:r>
              <a:rPr lang="en-US" sz="1100" dirty="0">
                <a:solidFill>
                  <a:schemeClr val="tx1"/>
                </a:solidFill>
              </a:rPr>
              <a:t>An iterative algorithm, its cost-accuracy curve, and a comparison with the closest published methods.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PHASE 2  ·  RQ1</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Predict retriever failure from geometry alone</a:t>
            </a:r>
            <a:endParaRPr lang="en-US" sz="2600" dirty="0"/>
          </a:p>
        </p:txBody>
      </p:sp>
      <p:sp>
        <p:nvSpPr>
          <p:cNvPr id="5" name="card Problem"/>
          <p:cNvSpPr/>
          <p:nvPr/>
        </p:nvSpPr>
        <p:spPr>
          <a:xfrm>
            <a:off x="457200" y="1280160"/>
            <a:ext cx="2560320" cy="3291840"/>
          </a:xfrm>
          <a:prstGeom prst="roundRect">
            <a:avLst>
              <a:gd name="adj" fmla="val 2857"/>
            </a:avLst>
          </a:prstGeom>
          <a:solidFill>
            <a:schemeClr val="bg2"/>
          </a:solidFill>
          <a:ln w="9525">
            <a:solidFill>
              <a:schemeClr val="bg2"/>
            </a:solidFill>
            <a:prstDash val="solid"/>
          </a:ln>
        </p:spPr>
      </p:sp>
      <p:sp>
        <p:nvSpPr>
          <p:cNvPr id="6" name="card head"/>
          <p:cNvSpPr txBox="1"/>
          <p:nvPr/>
        </p:nvSpPr>
        <p:spPr>
          <a:xfrm>
            <a:off x="594360" y="1389888"/>
            <a:ext cx="2286000" cy="274320"/>
          </a:xfrm>
          <a:prstGeom prst="rect">
            <a:avLst/>
          </a:prstGeom>
          <a:noFill/>
          <a:ln/>
        </p:spPr>
        <p:txBody>
          <a:bodyPr wrap="square" lIns="0" tIns="0" rIns="0" bIns="0" rtlCol="0" anchor="ctr"/>
          <a:lstStyle/>
          <a:p>
            <a:pPr indent="0" marL="0">
              <a:buNone/>
            </a:pPr>
            <a:r>
              <a:rPr lang="en-US" sz="1300" b="1" dirty="0">
                <a:solidFill>
                  <a:schemeClr val="accent1"/>
                </a:solidFill>
              </a:rPr>
              <a:t>Problem</a:t>
            </a:r>
            <a:endParaRPr lang="en-US" sz="1300" dirty="0"/>
          </a:p>
        </p:txBody>
      </p:sp>
      <p:sp>
        <p:nvSpPr>
          <p:cNvPr id="7" name="card body"/>
          <p:cNvSpPr txBox="1"/>
          <p:nvPr/>
        </p:nvSpPr>
        <p:spPr>
          <a:xfrm>
            <a:off x="594360" y="1691640"/>
            <a:ext cx="2286000" cy="278892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For each question q: y = 1 if the standard retriever does not rank the correct document first (58 of 196).</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x = features computed only from the question's embedding and the pool, with no labels, so a running system could compute them.</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Learn f(x) that estimates P(y = 1). Measure: AUC on held-out questions.</a:t>
            </a:r>
            <a:endParaRPr lang="en-US" sz="1150" dirty="0"/>
          </a:p>
        </p:txBody>
      </p:sp>
      <p:sp>
        <p:nvSpPr>
          <p:cNvPr id="8" name="card Approach"/>
          <p:cNvSpPr/>
          <p:nvPr/>
        </p:nvSpPr>
        <p:spPr>
          <a:xfrm>
            <a:off x="3291840" y="1280160"/>
            <a:ext cx="2560320" cy="3291840"/>
          </a:xfrm>
          <a:prstGeom prst="roundRect">
            <a:avLst>
              <a:gd name="adj" fmla="val 2857"/>
            </a:avLst>
          </a:prstGeom>
          <a:solidFill>
            <a:srgbClr val="FBEFE3"/>
          </a:solidFill>
          <a:ln w="9525">
            <a:solidFill>
              <a:srgbClr val="FBEFE3"/>
            </a:solidFill>
            <a:prstDash val="solid"/>
          </a:ln>
        </p:spPr>
      </p:sp>
      <p:sp>
        <p:nvSpPr>
          <p:cNvPr id="9" name="card head"/>
          <p:cNvSpPr txBox="1"/>
          <p:nvPr/>
        </p:nvSpPr>
        <p:spPr>
          <a:xfrm>
            <a:off x="3429000" y="1389888"/>
            <a:ext cx="2286000" cy="274320"/>
          </a:xfrm>
          <a:prstGeom prst="rect">
            <a:avLst/>
          </a:prstGeom>
          <a:noFill/>
          <a:ln/>
        </p:spPr>
        <p:txBody>
          <a:bodyPr wrap="square" lIns="0" tIns="0" rIns="0" bIns="0" rtlCol="0" anchor="ctr"/>
          <a:lstStyle/>
          <a:p>
            <a:pPr indent="0" marL="0">
              <a:buNone/>
            </a:pPr>
            <a:r>
              <a:rPr lang="en-US" sz="1300" b="1" dirty="0">
                <a:solidFill>
                  <a:schemeClr val="accent2"/>
                </a:solidFill>
              </a:rPr>
              <a:t>Approach</a:t>
            </a:r>
            <a:endParaRPr lang="en-US" sz="1300" dirty="0"/>
          </a:p>
        </p:txBody>
      </p:sp>
      <p:sp>
        <p:nvSpPr>
          <p:cNvPr id="10" name="card body"/>
          <p:cNvSpPr txBox="1"/>
          <p:nvPr/>
        </p:nvSpPr>
        <p:spPr>
          <a:xfrm>
            <a:off x="3429000" y="1691640"/>
            <a:ext cx="2286000" cy="278892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Three groups of features:</a:t>
            </a:r>
            <a:endParaRPr lang="en-US" sz="1150" dirty="0"/>
          </a:p>
          <a:p>
            <a:pPr indent="0" marL="0">
              <a:spcAft>
                <a:spcPts val="400"/>
              </a:spcAft>
              <a:buNone/>
            </a:pPr>
            <a:r>
              <a:rPr lang="en-US" sz="1150" dirty="0">
                <a:solidFill>
                  <a:schemeClr val="tx1"/>
                </a:solidFill>
              </a:rPr>
              <a:t>How far: distance to the 1st, 5th and 20th nearest document.</a:t>
            </a:r>
            <a:endParaRPr lang="en-US" sz="1150" dirty="0"/>
          </a:p>
          <a:p>
            <a:pPr indent="0" marL="0">
              <a:spcAft>
                <a:spcPts val="400"/>
              </a:spcAft>
              <a:buNone/>
            </a:pPr>
            <a:r>
              <a:rPr lang="en-US" sz="1150" dirty="0">
                <a:solidFill>
                  <a:schemeClr val="tx1"/>
                </a:solidFill>
              </a:rPr>
              <a:t>How crowded: documents within a radius; tightness of the top-20 around their center.</a:t>
            </a:r>
            <a:endParaRPr lang="en-US" sz="1150" dirty="0"/>
          </a:p>
          <a:p>
            <a:pPr indent="0" marL="0">
              <a:spcAft>
                <a:spcPts val="400"/>
              </a:spcAft>
              <a:buNone/>
            </a:pPr>
            <a:r>
              <a:rPr lang="en-US" sz="1150" dirty="0">
                <a:solidFill>
                  <a:schemeClr val="tx1"/>
                </a:solidFill>
              </a:rPr>
              <a:t>How coherent: distance to the top-20 center; share of mutual neighbors.</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Logistic regression and gradient-boosted trees, cross-validated over the 196 questions.</a:t>
            </a:r>
            <a:endParaRPr lang="en-US" sz="1150" dirty="0"/>
          </a:p>
        </p:txBody>
      </p:sp>
      <p:sp>
        <p:nvSpPr>
          <p:cNvPr id="11" name="card Evaluation"/>
          <p:cNvSpPr/>
          <p:nvPr/>
        </p:nvSpPr>
        <p:spPr>
          <a:xfrm>
            <a:off x="6126480" y="1280160"/>
            <a:ext cx="2560320" cy="3291840"/>
          </a:xfrm>
          <a:prstGeom prst="roundRect">
            <a:avLst>
              <a:gd name="adj" fmla="val 2857"/>
            </a:avLst>
          </a:prstGeom>
          <a:solidFill>
            <a:schemeClr val="bg2"/>
          </a:solidFill>
          <a:ln w="9525">
            <a:solidFill>
              <a:schemeClr val="bg2"/>
            </a:solidFill>
            <a:prstDash val="solid"/>
          </a:ln>
        </p:spPr>
      </p:sp>
      <p:sp>
        <p:nvSpPr>
          <p:cNvPr id="12" name="card head"/>
          <p:cNvSpPr txBox="1"/>
          <p:nvPr/>
        </p:nvSpPr>
        <p:spPr>
          <a:xfrm>
            <a:off x="6263640" y="1389888"/>
            <a:ext cx="2286000" cy="274320"/>
          </a:xfrm>
          <a:prstGeom prst="rect">
            <a:avLst/>
          </a:prstGeom>
          <a:noFill/>
          <a:ln/>
        </p:spPr>
        <p:txBody>
          <a:bodyPr wrap="square" lIns="0" tIns="0" rIns="0" bIns="0" rtlCol="0" anchor="ctr"/>
          <a:lstStyle/>
          <a:p>
            <a:pPr indent="0" marL="0">
              <a:buNone/>
            </a:pPr>
            <a:r>
              <a:rPr lang="en-US" sz="1300" b="1" dirty="0">
                <a:solidFill>
                  <a:schemeClr val="accent1"/>
                </a:solidFill>
              </a:rPr>
              <a:t>Evaluation</a:t>
            </a:r>
            <a:endParaRPr lang="en-US" sz="1300" dirty="0"/>
          </a:p>
        </p:txBody>
      </p:sp>
      <p:sp>
        <p:nvSpPr>
          <p:cNvPr id="13" name="card body"/>
          <p:cNvSpPr txBox="1"/>
          <p:nvPr/>
        </p:nvSpPr>
        <p:spPr>
          <a:xfrm>
            <a:off x="6263640" y="1691640"/>
            <a:ext cx="2286000" cy="278892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Cross-validated AUC against a no-feature predictor and the closest existing method, coherence-based predictors for bi-encoders.</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Repeated on TREC-COVID and MS MARCO with human labels.</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The predictor becomes a gate for Phases 3 and 4: which questions to act on, which to leave to the standard retriever.</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PHASE 3  ·  RQ2</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A one-shot anchor set by the measured geometry</a:t>
            </a:r>
            <a:endParaRPr lang="en-US" sz="2600" dirty="0"/>
          </a:p>
        </p:txBody>
      </p:sp>
      <p:sp>
        <p:nvSpPr>
          <p:cNvPr id="5" name="formula box"/>
          <p:cNvSpPr/>
          <p:nvPr/>
        </p:nvSpPr>
        <p:spPr>
          <a:xfrm>
            <a:off x="457200" y="1234440"/>
            <a:ext cx="8229600" cy="566928"/>
          </a:xfrm>
          <a:prstGeom prst="roundRect">
            <a:avLst>
              <a:gd name="adj" fmla="val 12903"/>
            </a:avLst>
          </a:prstGeom>
          <a:solidFill>
            <a:schemeClr val="bg2"/>
          </a:solidFill>
          <a:ln w="9525">
            <a:solidFill>
              <a:schemeClr val="bg2"/>
            </a:solidFill>
            <a:prstDash val="solid"/>
          </a:ln>
        </p:spPr>
      </p:sp>
      <p:sp>
        <p:nvSpPr>
          <p:cNvPr id="6" name="formula"/>
          <p:cNvSpPr txBox="1"/>
          <p:nvPr/>
        </p:nvSpPr>
        <p:spPr>
          <a:xfrm>
            <a:off x="640080" y="1234440"/>
            <a:ext cx="7863840" cy="566928"/>
          </a:xfrm>
          <a:prstGeom prst="rect">
            <a:avLst/>
          </a:prstGeom>
          <a:noFill/>
          <a:ln/>
        </p:spPr>
        <p:txBody>
          <a:bodyPr wrap="square" lIns="0" tIns="0" rIns="0" bIns="0" rtlCol="0" anchor="ctr"/>
          <a:lstStyle/>
          <a:p>
            <a:pPr indent="0" marL="0">
              <a:buNone/>
            </a:pPr>
            <a:r>
              <a:rPr lang="en-US" sz="1800" b="1" dirty="0">
                <a:solidFill>
                  <a:schemeClr val="accent1"/>
                </a:solidFill>
              </a:rPr>
              <a:t>A = normalize( Q + λ · (C</a:t>
            </a:r>
            <a:pPr indent="0" marL="0">
              <a:buNone/>
            </a:pPr>
            <a:r>
              <a:rPr lang="en-US" sz="1200" b="1" baseline="-40000" dirty="0">
                <a:solidFill>
                  <a:schemeClr val="accent1"/>
                </a:solidFill>
              </a:rPr>
              <a:t>k</a:t>
            </a:r>
            <a:pPr indent="0" marL="0">
              <a:buNone/>
            </a:pPr>
            <a:r>
              <a:rPr lang="en-US" sz="1800" b="1" dirty="0">
                <a:solidFill>
                  <a:schemeClr val="accent1"/>
                </a:solidFill>
              </a:rPr>
              <a:t> − Q) )</a:t>
            </a:r>
            <a:pPr indent="0" marL="0">
              <a:buNone/>
            </a:pPr>
            <a:r>
              <a:rPr lang="en-US" sz="1200" dirty="0">
                <a:solidFill>
                  <a:schemeClr val="accent5"/>
                </a:solidFill>
              </a:rPr>
              <a:t>      C</a:t>
            </a:r>
            <a:pPr indent="0" marL="0">
              <a:buNone/>
            </a:pPr>
            <a:r>
              <a:rPr lang="en-US" sz="900" baseline="-40000" dirty="0">
                <a:solidFill>
                  <a:schemeClr val="accent5"/>
                </a:solidFill>
              </a:rPr>
              <a:t>k</a:t>
            </a:r>
            <a:pPr indent="0" marL="0">
              <a:buNone/>
            </a:pPr>
            <a:r>
              <a:rPr lang="en-US" sz="1150" dirty="0">
                <a:solidFill>
                  <a:schemeClr val="accent5"/>
                </a:solidFill>
              </a:rPr>
              <a:t> = centroid of the inspected documents judged relevant. The pool is ranked by distance to A.</a:t>
            </a:r>
            <a:endParaRPr lang="en-US" sz="1800" dirty="0"/>
          </a:p>
        </p:txBody>
      </p:sp>
      <p:sp>
        <p:nvSpPr>
          <p:cNvPr id="7" name="card λ is set per question, from"/>
          <p:cNvSpPr/>
          <p:nvPr/>
        </p:nvSpPr>
        <p:spPr>
          <a:xfrm>
            <a:off x="457200" y="1965960"/>
            <a:ext cx="2560320" cy="2651760"/>
          </a:xfrm>
          <a:prstGeom prst="roundRect">
            <a:avLst>
              <a:gd name="adj" fmla="val 2857"/>
            </a:avLst>
          </a:prstGeom>
          <a:solidFill>
            <a:schemeClr val="bg2"/>
          </a:solidFill>
          <a:ln w="9525">
            <a:solidFill>
              <a:schemeClr val="bg2"/>
            </a:solidFill>
            <a:prstDash val="solid"/>
          </a:ln>
        </p:spPr>
      </p:sp>
      <p:sp>
        <p:nvSpPr>
          <p:cNvPr id="8" name="card head"/>
          <p:cNvSpPr txBox="1"/>
          <p:nvPr/>
        </p:nvSpPr>
        <p:spPr>
          <a:xfrm>
            <a:off x="594360" y="2075688"/>
            <a:ext cx="2286000" cy="274320"/>
          </a:xfrm>
          <a:prstGeom prst="rect">
            <a:avLst/>
          </a:prstGeom>
          <a:noFill/>
          <a:ln/>
        </p:spPr>
        <p:txBody>
          <a:bodyPr wrap="square" lIns="0" tIns="0" rIns="0" bIns="0" rtlCol="0" anchor="ctr"/>
          <a:lstStyle/>
          <a:p>
            <a:pPr indent="0" marL="0">
              <a:buNone/>
            </a:pPr>
            <a:r>
              <a:rPr lang="en-US" sz="1300" b="1" dirty="0">
                <a:solidFill>
                  <a:schemeClr val="accent1"/>
                </a:solidFill>
              </a:rPr>
              <a:t>λ is set per question, from</a:t>
            </a:r>
            <a:endParaRPr lang="en-US" sz="1300" dirty="0"/>
          </a:p>
        </p:txBody>
      </p:sp>
      <p:sp>
        <p:nvSpPr>
          <p:cNvPr id="9" name="card body"/>
          <p:cNvSpPr txBox="1"/>
          <p:nvPr/>
        </p:nvSpPr>
        <p:spPr>
          <a:xfrm>
            <a:off x="594360" y="2377440"/>
            <a:ext cx="2286000" cy="2148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Support: how many of the k inspected documents were judged relevant. One is a noisy estimate; five are not.</a:t>
            </a:r>
            <a:endParaRPr lang="en-US" sz="1150" dirty="0"/>
          </a:p>
          <a:p>
            <a:pPr indent="0" marL="0">
              <a:spcAft>
                <a:spcPts val="400"/>
              </a:spcAft>
              <a:buNone/>
            </a:pPr>
            <a:r>
              <a:rPr lang="en-US" sz="1150" dirty="0">
                <a:solidFill>
                  <a:schemeClr val="tx1"/>
                </a:solidFill>
              </a:rPr>
              <a:t>Spread: how tightly the relevant ones cluster. A tight cluster justifies a larger step.</a:t>
            </a:r>
            <a:endParaRPr lang="en-US" sz="1150" dirty="0"/>
          </a:p>
          <a:p>
            <a:pPr indent="0" marL="0">
              <a:spcAft>
                <a:spcPts val="400"/>
              </a:spcAft>
              <a:buNone/>
            </a:pPr>
            <a:r>
              <a:rPr lang="en-US" sz="1150" dirty="0">
                <a:solidFill>
                  <a:schemeClr val="tx1"/>
                </a:solidFill>
              </a:rPr>
              <a:t>Example: k = 5, three relevant and tight: about a third of the way. One relevant: barely moves.</a:t>
            </a:r>
            <a:endParaRPr lang="en-US" sz="1150" dirty="0"/>
          </a:p>
        </p:txBody>
      </p:sp>
      <p:sp>
        <p:nvSpPr>
          <p:cNvPr id="10" name="card Guard rails and variants"/>
          <p:cNvSpPr/>
          <p:nvPr/>
        </p:nvSpPr>
        <p:spPr>
          <a:xfrm>
            <a:off x="3291840" y="1965960"/>
            <a:ext cx="2560320" cy="2651760"/>
          </a:xfrm>
          <a:prstGeom prst="roundRect">
            <a:avLst>
              <a:gd name="adj" fmla="val 2857"/>
            </a:avLst>
          </a:prstGeom>
          <a:solidFill>
            <a:srgbClr val="FBEFE3"/>
          </a:solidFill>
          <a:ln w="9525">
            <a:solidFill>
              <a:srgbClr val="FBEFE3"/>
            </a:solidFill>
            <a:prstDash val="solid"/>
          </a:ln>
        </p:spPr>
      </p:sp>
      <p:sp>
        <p:nvSpPr>
          <p:cNvPr id="11" name="card head"/>
          <p:cNvSpPr txBox="1"/>
          <p:nvPr/>
        </p:nvSpPr>
        <p:spPr>
          <a:xfrm>
            <a:off x="3429000" y="2075688"/>
            <a:ext cx="2286000" cy="274320"/>
          </a:xfrm>
          <a:prstGeom prst="rect">
            <a:avLst/>
          </a:prstGeom>
          <a:noFill/>
          <a:ln/>
        </p:spPr>
        <p:txBody>
          <a:bodyPr wrap="square" lIns="0" tIns="0" rIns="0" bIns="0" rtlCol="0" anchor="ctr"/>
          <a:lstStyle/>
          <a:p>
            <a:pPr indent="0" marL="0">
              <a:buNone/>
            </a:pPr>
            <a:r>
              <a:rPr lang="en-US" sz="1300" b="1" dirty="0">
                <a:solidFill>
                  <a:schemeClr val="accent2"/>
                </a:solidFill>
              </a:rPr>
              <a:t>Guard rails and variants</a:t>
            </a:r>
            <a:endParaRPr lang="en-US" sz="1300" dirty="0"/>
          </a:p>
        </p:txBody>
      </p:sp>
      <p:sp>
        <p:nvSpPr>
          <p:cNvPr id="12" name="card body"/>
          <p:cNvSpPr txBox="1"/>
          <p:nvPr/>
        </p:nvSpPr>
        <p:spPr>
          <a:xfrm>
            <a:off x="3429000" y="2377440"/>
            <a:ext cx="2286000" cy="2148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Gate: questions the Phase 2 predictor marks as solved keep A = Q and are never touched (70% of questions).</a:t>
            </a:r>
            <a:endParaRPr lang="en-US" sz="1150" dirty="0"/>
          </a:p>
          <a:p>
            <a:pPr indent="0" marL="0">
              <a:spcAft>
                <a:spcPts val="400"/>
              </a:spcAft>
              <a:buNone/>
            </a:pPr>
            <a:r>
              <a:rPr lang="en-US" sz="1150" dirty="0">
                <a:solidFill>
                  <a:schemeClr val="tx1"/>
                </a:solidFill>
              </a:rPr>
              <a:t>Variant: start the move from the HyDE embedding instead of Q.</a:t>
            </a:r>
            <a:endParaRPr lang="en-US" sz="1150" dirty="0"/>
          </a:p>
          <a:p>
            <a:pPr indent="0" marL="0">
              <a:spcAft>
                <a:spcPts val="400"/>
              </a:spcAft>
              <a:buNone/>
            </a:pPr>
            <a:r>
              <a:rPr lang="en-US" sz="1150" dirty="0">
                <a:solidFill>
                  <a:schemeClr val="tx1"/>
                </a:solidFill>
              </a:rPr>
              <a:t>Variant: repulsion, also push A away from the centroid of documents judged irrelevant.</a:t>
            </a:r>
            <a:endParaRPr lang="en-US" sz="1150" dirty="0"/>
          </a:p>
        </p:txBody>
      </p:sp>
      <p:sp>
        <p:nvSpPr>
          <p:cNvPr id="13" name="card Evaluation"/>
          <p:cNvSpPr/>
          <p:nvPr/>
        </p:nvSpPr>
        <p:spPr>
          <a:xfrm>
            <a:off x="6126480" y="1965960"/>
            <a:ext cx="2560320" cy="2651760"/>
          </a:xfrm>
          <a:prstGeom prst="roundRect">
            <a:avLst>
              <a:gd name="adj" fmla="val 2857"/>
            </a:avLst>
          </a:prstGeom>
          <a:solidFill>
            <a:schemeClr val="bg2"/>
          </a:solidFill>
          <a:ln w="9525">
            <a:solidFill>
              <a:schemeClr val="bg2"/>
            </a:solidFill>
            <a:prstDash val="solid"/>
          </a:ln>
        </p:spPr>
      </p:sp>
      <p:sp>
        <p:nvSpPr>
          <p:cNvPr id="14" name="card head"/>
          <p:cNvSpPr txBox="1"/>
          <p:nvPr/>
        </p:nvSpPr>
        <p:spPr>
          <a:xfrm>
            <a:off x="6263640" y="2075688"/>
            <a:ext cx="2286000" cy="274320"/>
          </a:xfrm>
          <a:prstGeom prst="rect">
            <a:avLst/>
          </a:prstGeom>
          <a:noFill/>
          <a:ln/>
        </p:spPr>
        <p:txBody>
          <a:bodyPr wrap="square" lIns="0" tIns="0" rIns="0" bIns="0" rtlCol="0" anchor="ctr"/>
          <a:lstStyle/>
          <a:p>
            <a:pPr indent="0" marL="0">
              <a:buNone/>
            </a:pPr>
            <a:r>
              <a:rPr lang="en-US" sz="1300" b="1" dirty="0">
                <a:solidFill>
                  <a:schemeClr val="accent1"/>
                </a:solidFill>
              </a:rPr>
              <a:t>Evaluation</a:t>
            </a:r>
            <a:endParaRPr lang="en-US" sz="1300" dirty="0"/>
          </a:p>
        </p:txBody>
      </p:sp>
      <p:sp>
        <p:nvSpPr>
          <p:cNvPr id="15" name="card body"/>
          <p:cNvSpPr txBox="1"/>
          <p:nvPr/>
        </p:nvSpPr>
        <p:spPr>
          <a:xfrm>
            <a:off x="6263640" y="2377440"/>
            <a:ext cx="2286000" cy="2148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Budgets of 1, 2, 3, 5 and 10 inspections.</a:t>
            </a:r>
            <a:endParaRPr lang="en-US" sz="1150" dirty="0"/>
          </a:p>
          <a:p>
            <a:pPr indent="0" marL="0">
              <a:spcAft>
                <a:spcPts val="400"/>
              </a:spcAft>
              <a:buNone/>
            </a:pPr>
            <a:r>
              <a:rPr lang="en-US" sz="1150" dirty="0">
                <a:solidFill>
                  <a:schemeClr val="tx1"/>
                </a:solidFill>
              </a:rPr>
              <a:t>Inspections until the correct document (exact) and until the first fully relevant one (soft); Top-1 and Top-10 per budget; the cost-accuracy curve.</a:t>
            </a:r>
            <a:endParaRPr lang="en-US" sz="1150" dirty="0"/>
          </a:p>
          <a:p>
            <a:pPr indent="0" marL="0">
              <a:spcAft>
                <a:spcPts val="400"/>
              </a:spcAft>
              <a:buNone/>
            </a:pPr>
            <a:r>
              <a:rPr lang="en-US" sz="1150" dirty="0">
                <a:solidFill>
                  <a:schemeClr val="tx1"/>
                </a:solidFill>
              </a:rPr>
              <a:t>Against B1, H1-H3, Rocchio, HyDE, ReDE-RF. Paired bootstrap; split by solved and failed questions; re-run on TREC-COVID and MS MARCO.</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PHASE 4  ·  RQ3</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Iterative anchoring for the failing cases</a:t>
            </a:r>
            <a:endParaRPr lang="en-US" sz="2600" dirty="0"/>
          </a:p>
        </p:txBody>
      </p:sp>
      <p:sp>
        <p:nvSpPr>
          <p:cNvPr id="5" name="step 1"/>
          <p:cNvSpPr/>
          <p:nvPr/>
        </p:nvSpPr>
        <p:spPr>
          <a:xfrm>
            <a:off x="457200" y="1280160"/>
            <a:ext cx="1554480" cy="1600200"/>
          </a:xfrm>
          <a:prstGeom prst="roundRect">
            <a:avLst>
              <a:gd name="adj" fmla="val 4706"/>
            </a:avLst>
          </a:prstGeom>
          <a:solidFill>
            <a:schemeClr val="bg2"/>
          </a:solidFill>
          <a:ln w="9525">
            <a:solidFill>
              <a:schemeClr val="bg2"/>
            </a:solidFill>
            <a:prstDash val="solid"/>
          </a:ln>
        </p:spPr>
      </p:sp>
      <p:sp>
        <p:nvSpPr>
          <p:cNvPr id="6" name="circle 1"/>
          <p:cNvSpPr/>
          <p:nvPr/>
        </p:nvSpPr>
        <p:spPr>
          <a:xfrm>
            <a:off x="566928" y="1371600"/>
            <a:ext cx="310896" cy="310896"/>
          </a:xfrm>
          <a:prstGeom prst="ellipse">
            <a:avLst/>
          </a:prstGeom>
          <a:solidFill>
            <a:schemeClr val="accent1"/>
          </a:solidFill>
          <a:ln w="12700">
            <a:solidFill>
              <a:schemeClr val="accent1"/>
            </a:solidFill>
            <a:prstDash val="solid"/>
          </a:ln>
        </p:spPr>
      </p:sp>
      <p:sp>
        <p:nvSpPr>
          <p:cNvPr id="7" name="circle label"/>
          <p:cNvSpPr txBox="1"/>
          <p:nvPr/>
        </p:nvSpPr>
        <p:spPr>
          <a:xfrm>
            <a:off x="566928" y="13716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step head"/>
          <p:cNvSpPr txBox="1"/>
          <p:nvPr/>
        </p:nvSpPr>
        <p:spPr>
          <a:xfrm>
            <a:off x="932688" y="1371600"/>
            <a:ext cx="1024128" cy="310896"/>
          </a:xfrm>
          <a:prstGeom prst="rect">
            <a:avLst/>
          </a:prstGeom>
          <a:noFill/>
          <a:ln/>
        </p:spPr>
        <p:txBody>
          <a:bodyPr wrap="square" lIns="0" tIns="0" rIns="0" bIns="0" rtlCol="0" anchor="ctr"/>
          <a:lstStyle/>
          <a:p>
            <a:pPr indent="0" marL="0">
              <a:buNone/>
            </a:pPr>
            <a:r>
              <a:rPr lang="en-US" sz="1100" b="1" dirty="0">
                <a:solidFill>
                  <a:schemeClr val="accent1"/>
                </a:solidFill>
              </a:rPr>
              <a:t>Start like B1</a:t>
            </a:r>
            <a:endParaRPr lang="en-US" sz="1100" dirty="0"/>
          </a:p>
        </p:txBody>
      </p:sp>
      <p:sp>
        <p:nvSpPr>
          <p:cNvPr id="9" name="step body"/>
          <p:cNvSpPr txBox="1"/>
          <p:nvPr/>
        </p:nvSpPr>
        <p:spPr>
          <a:xfrm>
            <a:off x="566928" y="1755648"/>
            <a:ext cx="1353312" cy="1078992"/>
          </a:xfrm>
          <a:prstGeom prst="rect">
            <a:avLst/>
          </a:prstGeom>
          <a:noFill/>
          <a:ln/>
        </p:spPr>
        <p:txBody>
          <a:bodyPr wrap="square" lIns="0" tIns="0" rIns="0" bIns="0" rtlCol="0" anchor="t"/>
          <a:lstStyle/>
          <a:p>
            <a:pPr indent="0" marL="0">
              <a:buNone/>
            </a:pPr>
            <a:r>
              <a:rPr lang="en-US" sz="1050" dirty="0">
                <a:solidFill>
                  <a:schemeClr val="tx1"/>
                </a:solidFill>
              </a:rPr>
              <a:t>Anchor = the question. Inspect B1's top-1.</a:t>
            </a:r>
            <a:endParaRPr lang="en-US" sz="1050" dirty="0"/>
          </a:p>
        </p:txBody>
      </p:sp>
      <p:sp>
        <p:nvSpPr>
          <p:cNvPr id="10" name="arrow"/>
          <p:cNvSpPr/>
          <p:nvPr/>
        </p:nvSpPr>
        <p:spPr>
          <a:xfrm>
            <a:off x="1993392" y="1938528"/>
            <a:ext cx="164592" cy="237744"/>
          </a:xfrm>
          <a:prstGeom prst="rightArrow">
            <a:avLst/>
          </a:prstGeom>
          <a:solidFill>
            <a:schemeClr val="accent5"/>
          </a:solidFill>
          <a:ln w="12700">
            <a:solidFill>
              <a:schemeClr val="accent5"/>
            </a:solidFill>
            <a:prstDash val="solid"/>
          </a:ln>
        </p:spPr>
      </p:sp>
      <p:sp>
        <p:nvSpPr>
          <p:cNvPr id="11" name="step 2"/>
          <p:cNvSpPr/>
          <p:nvPr/>
        </p:nvSpPr>
        <p:spPr>
          <a:xfrm>
            <a:off x="2139696" y="1280160"/>
            <a:ext cx="1554480" cy="1600200"/>
          </a:xfrm>
          <a:prstGeom prst="roundRect">
            <a:avLst>
              <a:gd name="adj" fmla="val 4706"/>
            </a:avLst>
          </a:prstGeom>
          <a:solidFill>
            <a:schemeClr val="bg2"/>
          </a:solidFill>
          <a:ln w="9525">
            <a:solidFill>
              <a:schemeClr val="bg2"/>
            </a:solidFill>
            <a:prstDash val="solid"/>
          </a:ln>
        </p:spPr>
      </p:sp>
      <p:sp>
        <p:nvSpPr>
          <p:cNvPr id="12" name="circle 2"/>
          <p:cNvSpPr/>
          <p:nvPr/>
        </p:nvSpPr>
        <p:spPr>
          <a:xfrm>
            <a:off x="2249424" y="1371600"/>
            <a:ext cx="310896" cy="310896"/>
          </a:xfrm>
          <a:prstGeom prst="ellipse">
            <a:avLst/>
          </a:prstGeom>
          <a:solidFill>
            <a:schemeClr val="accent1"/>
          </a:solidFill>
          <a:ln w="12700">
            <a:solidFill>
              <a:schemeClr val="accent1"/>
            </a:solidFill>
            <a:prstDash val="solid"/>
          </a:ln>
        </p:spPr>
      </p:sp>
      <p:sp>
        <p:nvSpPr>
          <p:cNvPr id="13" name="circle label"/>
          <p:cNvSpPr txBox="1"/>
          <p:nvPr/>
        </p:nvSpPr>
        <p:spPr>
          <a:xfrm>
            <a:off x="2249424" y="13716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step head"/>
          <p:cNvSpPr txBox="1"/>
          <p:nvPr/>
        </p:nvSpPr>
        <p:spPr>
          <a:xfrm>
            <a:off x="2615184" y="1371600"/>
            <a:ext cx="1024128" cy="310896"/>
          </a:xfrm>
          <a:prstGeom prst="rect">
            <a:avLst/>
          </a:prstGeom>
          <a:noFill/>
          <a:ln/>
        </p:spPr>
        <p:txBody>
          <a:bodyPr wrap="square" lIns="0" tIns="0" rIns="0" bIns="0" rtlCol="0" anchor="ctr"/>
          <a:lstStyle/>
          <a:p>
            <a:pPr indent="0" marL="0">
              <a:buNone/>
            </a:pPr>
            <a:r>
              <a:rPr lang="en-US" sz="1100" b="1" dirty="0">
                <a:solidFill>
                  <a:schemeClr val="accent1"/>
                </a:solidFill>
              </a:rPr>
              <a:t>Scored 1.0?</a:t>
            </a:r>
            <a:endParaRPr lang="en-US" sz="1100" dirty="0"/>
          </a:p>
        </p:txBody>
      </p:sp>
      <p:sp>
        <p:nvSpPr>
          <p:cNvPr id="15" name="step body"/>
          <p:cNvSpPr txBox="1"/>
          <p:nvPr/>
        </p:nvSpPr>
        <p:spPr>
          <a:xfrm>
            <a:off x="2249424" y="1755648"/>
            <a:ext cx="1353312" cy="1078992"/>
          </a:xfrm>
          <a:prstGeom prst="rect">
            <a:avLst/>
          </a:prstGeom>
          <a:noFill/>
          <a:ln/>
        </p:spPr>
        <p:txBody>
          <a:bodyPr wrap="square" lIns="0" tIns="0" rIns="0" bIns="0" rtlCol="0" anchor="t"/>
          <a:lstStyle/>
          <a:p>
            <a:pPr indent="0" marL="0">
              <a:buNone/>
            </a:pPr>
            <a:r>
              <a:rPr lang="en-US" sz="1050" dirty="0">
                <a:solidFill>
                  <a:schemeClr val="tx1"/>
                </a:solidFill>
              </a:rPr>
              <a:t>Done. Nothing was lost on the 70% B1 solves.</a:t>
            </a:r>
            <a:endParaRPr lang="en-US" sz="1050" dirty="0"/>
          </a:p>
        </p:txBody>
      </p:sp>
      <p:sp>
        <p:nvSpPr>
          <p:cNvPr id="16" name="arrow"/>
          <p:cNvSpPr/>
          <p:nvPr/>
        </p:nvSpPr>
        <p:spPr>
          <a:xfrm>
            <a:off x="3675888" y="1938528"/>
            <a:ext cx="164592" cy="237744"/>
          </a:xfrm>
          <a:prstGeom prst="rightArrow">
            <a:avLst/>
          </a:prstGeom>
          <a:solidFill>
            <a:schemeClr val="accent5"/>
          </a:solidFill>
          <a:ln w="12700">
            <a:solidFill>
              <a:schemeClr val="accent5"/>
            </a:solidFill>
            <a:prstDash val="solid"/>
          </a:ln>
        </p:spPr>
      </p:sp>
      <p:sp>
        <p:nvSpPr>
          <p:cNvPr id="17" name="step 3"/>
          <p:cNvSpPr/>
          <p:nvPr/>
        </p:nvSpPr>
        <p:spPr>
          <a:xfrm>
            <a:off x="3822192" y="1280160"/>
            <a:ext cx="1554480" cy="1600200"/>
          </a:xfrm>
          <a:prstGeom prst="roundRect">
            <a:avLst>
              <a:gd name="adj" fmla="val 4706"/>
            </a:avLst>
          </a:prstGeom>
          <a:solidFill>
            <a:srgbClr val="FBEFE3"/>
          </a:solidFill>
          <a:ln w="9525">
            <a:solidFill>
              <a:srgbClr val="FBEFE3"/>
            </a:solidFill>
            <a:prstDash val="solid"/>
          </a:ln>
        </p:spPr>
      </p:sp>
      <p:sp>
        <p:nvSpPr>
          <p:cNvPr id="18" name="circle 3"/>
          <p:cNvSpPr/>
          <p:nvPr/>
        </p:nvSpPr>
        <p:spPr>
          <a:xfrm>
            <a:off x="3931920" y="1371600"/>
            <a:ext cx="310896" cy="310896"/>
          </a:xfrm>
          <a:prstGeom prst="ellipse">
            <a:avLst/>
          </a:prstGeom>
          <a:solidFill>
            <a:schemeClr val="accent2"/>
          </a:solidFill>
          <a:ln w="12700">
            <a:solidFill>
              <a:schemeClr val="accent2"/>
            </a:solidFill>
            <a:prstDash val="solid"/>
          </a:ln>
        </p:spPr>
      </p:sp>
      <p:sp>
        <p:nvSpPr>
          <p:cNvPr id="19" name="circle label"/>
          <p:cNvSpPr txBox="1"/>
          <p:nvPr/>
        </p:nvSpPr>
        <p:spPr>
          <a:xfrm>
            <a:off x="3931920" y="13716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0" name="step head"/>
          <p:cNvSpPr txBox="1"/>
          <p:nvPr/>
        </p:nvSpPr>
        <p:spPr>
          <a:xfrm>
            <a:off x="4297680" y="1371600"/>
            <a:ext cx="1024128" cy="310896"/>
          </a:xfrm>
          <a:prstGeom prst="rect">
            <a:avLst/>
          </a:prstGeom>
          <a:noFill/>
          <a:ln/>
        </p:spPr>
        <p:txBody>
          <a:bodyPr wrap="square" lIns="0" tIns="0" rIns="0" bIns="0" rtlCol="0" anchor="ctr"/>
          <a:lstStyle/>
          <a:p>
            <a:pPr indent="0" marL="0">
              <a:buNone/>
            </a:pPr>
            <a:r>
              <a:rPr lang="en-US" sz="1100" b="1" dirty="0">
                <a:solidFill>
                  <a:schemeClr val="accent1"/>
                </a:solidFill>
              </a:rPr>
              <a:t>Else: start moving</a:t>
            </a:r>
            <a:endParaRPr lang="en-US" sz="1100" dirty="0"/>
          </a:p>
        </p:txBody>
      </p:sp>
      <p:sp>
        <p:nvSpPr>
          <p:cNvPr id="21" name="step body"/>
          <p:cNvSpPr txBox="1"/>
          <p:nvPr/>
        </p:nvSpPr>
        <p:spPr>
          <a:xfrm>
            <a:off x="3931920" y="1755648"/>
            <a:ext cx="1353312" cy="1078992"/>
          </a:xfrm>
          <a:prstGeom prst="rect">
            <a:avLst/>
          </a:prstGeom>
          <a:noFill/>
          <a:ln/>
        </p:spPr>
        <p:txBody>
          <a:bodyPr wrap="square" lIns="0" tIns="0" rIns="0" bIns="0" rtlCol="0" anchor="t"/>
          <a:lstStyle/>
          <a:p>
            <a:pPr indent="0" marL="0">
              <a:buNone/>
            </a:pPr>
            <a:r>
              <a:rPr lang="en-US" sz="1050" dirty="0">
                <a:solidFill>
                  <a:schemeClr val="tx1"/>
                </a:solidFill>
              </a:rPr>
              <a:t>The question's neighborhood is misleading; from now on the anchor may move.</a:t>
            </a:r>
            <a:endParaRPr lang="en-US" sz="1050" dirty="0"/>
          </a:p>
        </p:txBody>
      </p:sp>
      <p:sp>
        <p:nvSpPr>
          <p:cNvPr id="22" name="arrow"/>
          <p:cNvSpPr/>
          <p:nvPr/>
        </p:nvSpPr>
        <p:spPr>
          <a:xfrm>
            <a:off x="5358384" y="1938528"/>
            <a:ext cx="164592" cy="237744"/>
          </a:xfrm>
          <a:prstGeom prst="rightArrow">
            <a:avLst/>
          </a:prstGeom>
          <a:solidFill>
            <a:schemeClr val="accent5"/>
          </a:solidFill>
          <a:ln w="12700">
            <a:solidFill>
              <a:schemeClr val="accent5"/>
            </a:solidFill>
            <a:prstDash val="solid"/>
          </a:ln>
        </p:spPr>
      </p:sp>
      <p:sp>
        <p:nvSpPr>
          <p:cNvPr id="23" name="step 4"/>
          <p:cNvSpPr/>
          <p:nvPr/>
        </p:nvSpPr>
        <p:spPr>
          <a:xfrm>
            <a:off x="5504688" y="1280160"/>
            <a:ext cx="1554480" cy="1600200"/>
          </a:xfrm>
          <a:prstGeom prst="roundRect">
            <a:avLst>
              <a:gd name="adj" fmla="val 4706"/>
            </a:avLst>
          </a:prstGeom>
          <a:solidFill>
            <a:schemeClr val="bg2"/>
          </a:solidFill>
          <a:ln w="9525">
            <a:solidFill>
              <a:schemeClr val="bg2"/>
            </a:solidFill>
            <a:prstDash val="solid"/>
          </a:ln>
        </p:spPr>
      </p:sp>
      <p:sp>
        <p:nvSpPr>
          <p:cNvPr id="24" name="circle 4"/>
          <p:cNvSpPr/>
          <p:nvPr/>
        </p:nvSpPr>
        <p:spPr>
          <a:xfrm>
            <a:off x="5614416" y="1371600"/>
            <a:ext cx="310896" cy="310896"/>
          </a:xfrm>
          <a:prstGeom prst="ellipse">
            <a:avLst/>
          </a:prstGeom>
          <a:solidFill>
            <a:schemeClr val="accent1"/>
          </a:solidFill>
          <a:ln w="12700">
            <a:solidFill>
              <a:schemeClr val="accent1"/>
            </a:solidFill>
            <a:prstDash val="solid"/>
          </a:ln>
        </p:spPr>
      </p:sp>
      <p:sp>
        <p:nvSpPr>
          <p:cNvPr id="25" name="circle label"/>
          <p:cNvSpPr txBox="1"/>
          <p:nvPr/>
        </p:nvSpPr>
        <p:spPr>
          <a:xfrm>
            <a:off x="5614416" y="13716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6" name="step head"/>
          <p:cNvSpPr txBox="1"/>
          <p:nvPr/>
        </p:nvSpPr>
        <p:spPr>
          <a:xfrm>
            <a:off x="5980176" y="1371600"/>
            <a:ext cx="1024128" cy="310896"/>
          </a:xfrm>
          <a:prstGeom prst="rect">
            <a:avLst/>
          </a:prstGeom>
          <a:noFill/>
          <a:ln/>
        </p:spPr>
        <p:txBody>
          <a:bodyPr wrap="square" lIns="0" tIns="0" rIns="0" bIns="0" rtlCol="0" anchor="ctr"/>
          <a:lstStyle/>
          <a:p>
            <a:pPr indent="0" marL="0">
              <a:buNone/>
            </a:pPr>
            <a:r>
              <a:rPr lang="en-US" sz="1100" b="1" dirty="0">
                <a:solidFill>
                  <a:schemeClr val="accent1"/>
                </a:solidFill>
              </a:rPr>
              <a:t>Collect evidence</a:t>
            </a:r>
            <a:endParaRPr lang="en-US" sz="1100" dirty="0"/>
          </a:p>
        </p:txBody>
      </p:sp>
      <p:sp>
        <p:nvSpPr>
          <p:cNvPr id="27" name="step body"/>
          <p:cNvSpPr txBox="1"/>
          <p:nvPr/>
        </p:nvSpPr>
        <p:spPr>
          <a:xfrm>
            <a:off x="5614416" y="1755648"/>
            <a:ext cx="1353312" cy="1078992"/>
          </a:xfrm>
          <a:prstGeom prst="rect">
            <a:avLst/>
          </a:prstGeom>
          <a:noFill/>
          <a:ln/>
        </p:spPr>
        <p:txBody>
          <a:bodyPr wrap="square" lIns="0" tIns="0" rIns="0" bIns="0" rtlCol="0" anchor="t"/>
          <a:lstStyle/>
          <a:p>
            <a:pPr indent="0" marL="0">
              <a:buNone/>
            </a:pPr>
            <a:r>
              <a:rPr lang="en-US" sz="1050" dirty="0">
                <a:solidFill>
                  <a:schemeClr val="tx1"/>
                </a:solidFill>
              </a:rPr>
              <a:t>Documents scored above θ join R; recompute their centroid C(t), once |R| ≥ m.</a:t>
            </a:r>
            <a:endParaRPr lang="en-US" sz="1050" dirty="0"/>
          </a:p>
        </p:txBody>
      </p:sp>
      <p:sp>
        <p:nvSpPr>
          <p:cNvPr id="28" name="arrow"/>
          <p:cNvSpPr/>
          <p:nvPr/>
        </p:nvSpPr>
        <p:spPr>
          <a:xfrm>
            <a:off x="7040880" y="1938528"/>
            <a:ext cx="164592" cy="237744"/>
          </a:xfrm>
          <a:prstGeom prst="rightArrow">
            <a:avLst/>
          </a:prstGeom>
          <a:solidFill>
            <a:schemeClr val="accent5"/>
          </a:solidFill>
          <a:ln w="12700">
            <a:solidFill>
              <a:schemeClr val="accent5"/>
            </a:solidFill>
            <a:prstDash val="solid"/>
          </a:ln>
        </p:spPr>
      </p:sp>
      <p:sp>
        <p:nvSpPr>
          <p:cNvPr id="29" name="step 5"/>
          <p:cNvSpPr/>
          <p:nvPr/>
        </p:nvSpPr>
        <p:spPr>
          <a:xfrm>
            <a:off x="7187184" y="1280160"/>
            <a:ext cx="1554480" cy="1600200"/>
          </a:xfrm>
          <a:prstGeom prst="roundRect">
            <a:avLst>
              <a:gd name="adj" fmla="val 4706"/>
            </a:avLst>
          </a:prstGeom>
          <a:solidFill>
            <a:schemeClr val="bg2"/>
          </a:solidFill>
          <a:ln w="9525">
            <a:solidFill>
              <a:schemeClr val="bg2"/>
            </a:solidFill>
            <a:prstDash val="solid"/>
          </a:ln>
        </p:spPr>
      </p:sp>
      <p:sp>
        <p:nvSpPr>
          <p:cNvPr id="30" name="circle 5"/>
          <p:cNvSpPr/>
          <p:nvPr/>
        </p:nvSpPr>
        <p:spPr>
          <a:xfrm>
            <a:off x="7296912" y="1371600"/>
            <a:ext cx="310896" cy="310896"/>
          </a:xfrm>
          <a:prstGeom prst="ellipse">
            <a:avLst/>
          </a:prstGeom>
          <a:solidFill>
            <a:schemeClr val="accent1"/>
          </a:solidFill>
          <a:ln w="12700">
            <a:solidFill>
              <a:schemeClr val="accent1"/>
            </a:solidFill>
            <a:prstDash val="solid"/>
          </a:ln>
        </p:spPr>
      </p:sp>
      <p:sp>
        <p:nvSpPr>
          <p:cNvPr id="31" name="circle label"/>
          <p:cNvSpPr txBox="1"/>
          <p:nvPr/>
        </p:nvSpPr>
        <p:spPr>
          <a:xfrm>
            <a:off x="7296912" y="13716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2" name="step head"/>
          <p:cNvSpPr txBox="1"/>
          <p:nvPr/>
        </p:nvSpPr>
        <p:spPr>
          <a:xfrm>
            <a:off x="7662672" y="1371600"/>
            <a:ext cx="1024128" cy="310896"/>
          </a:xfrm>
          <a:prstGeom prst="rect">
            <a:avLst/>
          </a:prstGeom>
          <a:noFill/>
          <a:ln/>
        </p:spPr>
        <p:txBody>
          <a:bodyPr wrap="square" lIns="0" tIns="0" rIns="0" bIns="0" rtlCol="0" anchor="ctr"/>
          <a:lstStyle/>
          <a:p>
            <a:pPr indent="0" marL="0">
              <a:buNone/>
            </a:pPr>
            <a:r>
              <a:rPr lang="en-US" sz="1100" b="1" dirty="0">
                <a:solidFill>
                  <a:schemeClr val="accent1"/>
                </a:solidFill>
              </a:rPr>
              <a:t>Pick the next</a:t>
            </a:r>
            <a:endParaRPr lang="en-US" sz="1100" dirty="0"/>
          </a:p>
        </p:txBody>
      </p:sp>
      <p:sp>
        <p:nvSpPr>
          <p:cNvPr id="33" name="step body"/>
          <p:cNvSpPr txBox="1"/>
          <p:nvPr/>
        </p:nvSpPr>
        <p:spPr>
          <a:xfrm>
            <a:off x="7296912" y="1755648"/>
            <a:ext cx="1353312" cy="1078992"/>
          </a:xfrm>
          <a:prstGeom prst="rect">
            <a:avLst/>
          </a:prstGeom>
          <a:noFill/>
          <a:ln/>
        </p:spPr>
        <p:txBody>
          <a:bodyPr wrap="square" lIns="0" tIns="0" rIns="0" bIns="0" rtlCol="0" anchor="t"/>
          <a:lstStyle/>
          <a:p>
            <a:pPr indent="0" marL="0">
              <a:buNone/>
            </a:pPr>
            <a:r>
              <a:rPr lang="en-US" sz="1050" dirty="0">
                <a:solidFill>
                  <a:schemeClr val="tx1"/>
                </a:solidFill>
              </a:rPr>
              <a:t>The uninspected document nearest to the anchor A = normalize(a·Q + (1−a)·centroid(R)); a falls as R grows. Stop at the first 1.0 or at budget B.</a:t>
            </a:r>
            <a:endParaRPr lang="en-US" sz="1050" dirty="0"/>
          </a:p>
        </p:txBody>
      </p:sp>
      <p:sp>
        <p:nvSpPr>
          <p:cNvPr id="34" name="card What the failed prototype taught us"/>
          <p:cNvSpPr/>
          <p:nvPr/>
        </p:nvSpPr>
        <p:spPr>
          <a:xfrm>
            <a:off x="457200" y="3063240"/>
            <a:ext cx="4937760" cy="1508760"/>
          </a:xfrm>
          <a:prstGeom prst="roundRect">
            <a:avLst>
              <a:gd name="adj" fmla="val 4848"/>
            </a:avLst>
          </a:prstGeom>
          <a:solidFill>
            <a:schemeClr val="bg2"/>
          </a:solidFill>
          <a:ln w="9525">
            <a:solidFill>
              <a:schemeClr val="bg2"/>
            </a:solidFill>
            <a:prstDash val="solid"/>
          </a:ln>
        </p:spPr>
      </p:sp>
      <p:sp>
        <p:nvSpPr>
          <p:cNvPr id="35" name="card head"/>
          <p:cNvSpPr txBox="1"/>
          <p:nvPr/>
        </p:nvSpPr>
        <p:spPr>
          <a:xfrm>
            <a:off x="594360" y="3172968"/>
            <a:ext cx="4663440" cy="274320"/>
          </a:xfrm>
          <a:prstGeom prst="rect">
            <a:avLst/>
          </a:prstGeom>
          <a:noFill/>
          <a:ln/>
        </p:spPr>
        <p:txBody>
          <a:bodyPr wrap="square" lIns="0" tIns="0" rIns="0" bIns="0" rtlCol="0" anchor="ctr"/>
          <a:lstStyle/>
          <a:p>
            <a:pPr indent="0" marL="0">
              <a:buNone/>
            </a:pPr>
            <a:r>
              <a:rPr lang="en-US" sz="1300" b="1" dirty="0">
                <a:solidFill>
                  <a:schemeClr val="accent1"/>
                </a:solidFill>
              </a:rPr>
              <a:t>What the failed prototype taught us</a:t>
            </a:r>
            <a:endParaRPr lang="en-US" sz="1300" dirty="0"/>
          </a:p>
        </p:txBody>
      </p:sp>
      <p:sp>
        <p:nvSpPr>
          <p:cNvPr id="36" name="card body"/>
          <p:cNvSpPr txBox="1"/>
          <p:nvPr/>
        </p:nvSpPr>
        <p:spPr>
          <a:xfrm>
            <a:off x="594360" y="3474720"/>
            <a:ext cx="4663440" cy="1005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Fixed α, moving after the first relevant hit, centroid from whatever it had: mean inspections rose from 3.29 (B1) to 4.55.</a:t>
            </a:r>
            <a:endParaRPr lang="en-US" sz="1150" dirty="0"/>
          </a:p>
          <a:p>
            <a:pPr indent="0" marL="0">
              <a:spcAft>
                <a:spcPts val="400"/>
              </a:spcAft>
              <a:buNone/>
            </a:pPr>
            <a:r>
              <a:rPr lang="en-US" sz="1150" dirty="0">
                <a:solidFill>
                  <a:schemeClr val="tx1"/>
                </a:solidFill>
              </a:rPr>
              <a:t>So the algorithm moves only after a miss, only with at least m relevant documents, with a schedule α(t) instead of a constant, and records exact and soft success in the same run.</a:t>
            </a:r>
            <a:endParaRPr lang="en-US" sz="1150" dirty="0"/>
          </a:p>
        </p:txBody>
      </p:sp>
      <p:sp>
        <p:nvSpPr>
          <p:cNvPr id="37" name="card Evaluation"/>
          <p:cNvSpPr/>
          <p:nvPr/>
        </p:nvSpPr>
        <p:spPr>
          <a:xfrm>
            <a:off x="5577840" y="3063240"/>
            <a:ext cx="3108960" cy="1508760"/>
          </a:xfrm>
          <a:prstGeom prst="roundRect">
            <a:avLst>
              <a:gd name="adj" fmla="val 4848"/>
            </a:avLst>
          </a:prstGeom>
          <a:solidFill>
            <a:srgbClr val="FBEFE3"/>
          </a:solidFill>
          <a:ln w="9525">
            <a:solidFill>
              <a:srgbClr val="FBEFE3"/>
            </a:solidFill>
            <a:prstDash val="solid"/>
          </a:ln>
        </p:spPr>
      </p:sp>
      <p:sp>
        <p:nvSpPr>
          <p:cNvPr id="38" name="card head"/>
          <p:cNvSpPr txBox="1"/>
          <p:nvPr/>
        </p:nvSpPr>
        <p:spPr>
          <a:xfrm>
            <a:off x="5715000" y="3172968"/>
            <a:ext cx="2834640" cy="274320"/>
          </a:xfrm>
          <a:prstGeom prst="rect">
            <a:avLst/>
          </a:prstGeom>
          <a:noFill/>
          <a:ln/>
        </p:spPr>
        <p:txBody>
          <a:bodyPr wrap="square" lIns="0" tIns="0" rIns="0" bIns="0" rtlCol="0" anchor="ctr"/>
          <a:lstStyle/>
          <a:p>
            <a:pPr indent="0" marL="0">
              <a:buNone/>
            </a:pPr>
            <a:r>
              <a:rPr lang="en-US" sz="1300" b="1" dirty="0">
                <a:solidFill>
                  <a:schemeClr val="accent2"/>
                </a:solidFill>
              </a:rPr>
              <a:t>Evaluation</a:t>
            </a:r>
            <a:endParaRPr lang="en-US" sz="1300" dirty="0"/>
          </a:p>
        </p:txBody>
      </p:sp>
      <p:sp>
        <p:nvSpPr>
          <p:cNvPr id="39" name="card body"/>
          <p:cNvSpPr txBox="1"/>
          <p:nvPr/>
        </p:nvSpPr>
        <p:spPr>
          <a:xfrm>
            <a:off x="5715000" y="3474720"/>
            <a:ext cx="2834640" cy="1005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Same measures and budgets as Phase 3. Against B1, the one-shot heuristic (value of iterating), iterative Rocchio, TOUR and BAGEL. θ, m and the schedule swept exhaustively offline, failures reported too. Validated on TREC-COVID and MS MARCO.</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8229600" cy="256032"/>
          </a:xfrm>
          <a:prstGeom prst="rect">
            <a:avLst/>
          </a:prstGeom>
          <a:noFill/>
          <a:ln/>
        </p:spPr>
        <p:txBody>
          <a:bodyPr wrap="square" lIns="0" tIns="0" rIns="0" bIns="0" rtlCol="0"/>
          <a:lstStyle/>
          <a:p>
            <a:pPr indent="0" marL="0">
              <a:buNone/>
            </a:pPr>
            <a:r>
              <a:rPr lang="en-US" sz="1100" b="1" spc="300" kern="0" dirty="0">
                <a:solidFill>
                  <a:schemeClr val="accent6"/>
                </a:solidFill>
              </a:rPr>
              <a:t>TIME SCHEDULE</a:t>
            </a:r>
            <a:endParaRPr lang="en-US" sz="1100" dirty="0"/>
          </a:p>
        </p:txBody>
      </p:sp>
      <p:sp>
        <p:nvSpPr>
          <p:cNvPr id="3" name="Text 0"/>
          <p:cNvSpPr/>
          <p:nvPr>
            <p:ph idx="101" type="title" hasCustomPrompt="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chemeClr val="accent1"/>
                </a:solidFill>
              </a:rPr>
              <a:t>Three semesters, October 2026 to March 2028</a:t>
            </a:r>
            <a:endParaRPr lang="en-US" sz="2600" dirty="0"/>
          </a:p>
        </p:txBody>
      </p:sp>
      <p:graphicFrame>
        <p:nvGraphicFramePr>
          <p:cNvPr id="15" name="gantt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840480"/>
                <a:gridCol w="1463040"/>
                <a:gridCol w="1463040"/>
                <a:gridCol w="1463040"/>
              </a:tblGrid>
              <a:tr h="329184">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algn="ctr" indent="0" marL="0">
                        <a:buNone/>
                      </a:pPr>
                      <a:r>
                        <a:rPr lang="en-US" sz="1100" b="1" dirty="0">
                          <a:solidFill>
                            <a:srgbClr val="FFFFFF"/>
                          </a:solidFill>
                          <a:latin typeface="+mn-lt" pitchFamily="34" charset="0"/>
                          <a:ea typeface="+mn-lt" pitchFamily="34" charset="-122"/>
                          <a:cs typeface="+mn-lt" pitchFamily="34" charset="-120"/>
                        </a:rPr>
                        <a:t>S1  Oct 26 - Mar 27</a:t>
                      </a:r>
                      <a:endParaRPr lang="en-US" sz="11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algn="ctr" indent="0" marL="0">
                        <a:buNone/>
                      </a:pPr>
                      <a:r>
                        <a:rPr lang="en-US" sz="1100" b="1" dirty="0">
                          <a:solidFill>
                            <a:srgbClr val="FFFFFF"/>
                          </a:solidFill>
                          <a:latin typeface="+mn-lt" pitchFamily="34" charset="0"/>
                          <a:ea typeface="+mn-lt" pitchFamily="34" charset="-122"/>
                          <a:cs typeface="+mn-lt" pitchFamily="34" charset="-120"/>
                        </a:rPr>
                        <a:t>S2  Apr - Sep 27</a:t>
                      </a:r>
                      <a:endParaRPr lang="en-US" sz="11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algn="ctr" indent="0" marL="0">
                        <a:buNone/>
                      </a:pPr>
                      <a:r>
                        <a:rPr lang="en-US" sz="1100" b="1" dirty="0">
                          <a:solidFill>
                            <a:srgbClr val="FFFFFF"/>
                          </a:solidFill>
                          <a:latin typeface="+mn-lt" pitchFamily="34" charset="0"/>
                          <a:ea typeface="+mn-lt" pitchFamily="34" charset="-122"/>
                          <a:cs typeface="+mn-lt" pitchFamily="34" charset="-120"/>
                        </a:rPr>
                        <a:t>S3  Oct 27 - Mar 28</a:t>
                      </a:r>
                      <a:endParaRPr lang="en-US" sz="11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r>
              <a:tr h="329184">
                <a:tc>
                  <a:txBody>
                    <a:bodyPr/>
                    <a:lstStyle/>
                    <a:p>
                      <a:pPr indent="0" marL="0">
                        <a:buNone/>
                      </a:pPr>
                      <a:r>
                        <a:rPr lang="en-US" sz="1150" dirty="0">
                          <a:solidFill>
                            <a:srgbClr val="1E2633"/>
                          </a:solidFill>
                          <a:latin typeface="+mn-lt" pitchFamily="34" charset="0"/>
                          <a:ea typeface="+mn-lt" pitchFamily="34" charset="-122"/>
                          <a:cs typeface="+mn-lt" pitchFamily="34" charset="-120"/>
                        </a:rPr>
                        <a:t>Phase 1: remaining baseline retrievers</a:t>
                      </a:r>
                      <a:endParaRPr lang="en-US" sz="115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E2633"/>
                          </a:solidFill>
                          <a:latin typeface="+mn-lt" pitchFamily="34" charset="0"/>
                          <a:ea typeface="+mn-lt" pitchFamily="34" charset="-122"/>
                          <a:cs typeface="+mn-lt" pitchFamily="34" charset="-120"/>
                        </a:rPr>
                        <a:t>Phase 2: geometry and failure prediction, validation</a:t>
                      </a:r>
                      <a:endParaRPr lang="en-US" sz="115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E2633"/>
                          </a:solidFill>
                          <a:latin typeface="+mn-lt" pitchFamily="34" charset="0"/>
                          <a:ea typeface="+mn-lt" pitchFamily="34" charset="-122"/>
                          <a:cs typeface="+mn-lt" pitchFamily="34" charset="-120"/>
                        </a:rPr>
                        <a:t>Phase 3: geometry-guided anchor heuristic</a:t>
                      </a:r>
                      <a:endParaRPr lang="en-US" sz="115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E2633"/>
                          </a:solidFill>
                          <a:latin typeface="+mn-lt" pitchFamily="34" charset="0"/>
                          <a:ea typeface="+mn-lt" pitchFamily="34" charset="-122"/>
                          <a:cs typeface="+mn-lt" pitchFamily="34" charset="-120"/>
                        </a:rPr>
                        <a:t>Phase 4: iterative search algorithm, validation</a:t>
                      </a:r>
                      <a:endParaRPr lang="en-US" sz="115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3D6E"/>
                    </a:solidFill>
                  </a:tcPr>
                </a:tc>
              </a:tr>
              <a:tr h="329184">
                <a:tc>
                  <a:txBody>
                    <a:bodyPr/>
                    <a:lstStyle/>
                    <a:p>
                      <a:pPr indent="0" marL="0">
                        <a:buNone/>
                      </a:pPr>
                      <a:r>
                        <a:rPr lang="en-US" sz="1150" dirty="0">
                          <a:solidFill>
                            <a:srgbClr val="1E2633"/>
                          </a:solidFill>
                          <a:latin typeface="+mn-lt" pitchFamily="34" charset="0"/>
                          <a:ea typeface="+mn-lt" pitchFamily="34" charset="-122"/>
                          <a:cs typeface="+mn-lt" pitchFamily="34" charset="-120"/>
                        </a:rPr>
                        <a:t>Paper writing and submission</a:t>
                      </a:r>
                      <a:endParaRPr lang="en-US" sz="115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B9C8DE"/>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B9C8DE"/>
                    </a:solidFill>
                  </a:tcPr>
                </a:tc>
              </a:tr>
              <a:tr h="329184">
                <a:tc>
                  <a:txBody>
                    <a:bodyPr/>
                    <a:lstStyle/>
                    <a:p>
                      <a:pPr indent="0" marL="0">
                        <a:buNone/>
                      </a:pPr>
                      <a:r>
                        <a:rPr lang="en-US" sz="1150" dirty="0">
                          <a:solidFill>
                            <a:srgbClr val="1E2633"/>
                          </a:solidFill>
                          <a:latin typeface="+mn-lt" pitchFamily="34" charset="0"/>
                          <a:ea typeface="+mn-lt" pitchFamily="34" charset="-122"/>
                          <a:cs typeface="+mn-lt" pitchFamily="34" charset="-120"/>
                        </a:rPr>
                        <a:t>Thesis writing</a:t>
                      </a:r>
                      <a:endParaRPr lang="en-US" sz="115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endParaRPr lang="en-US" sz="1200" dirty="0">
                        <a:latin typeface="+mn-lt" charset="0"/>
                        <a:ea typeface="+mn-lt" charset="0"/>
                        <a:cs typeface="+mn-lt" charset="0"/>
                      </a:endParaRPr>
                    </a:p>
                  </a:txBody>
                  <a:tcPr marL="45720" marR="45720" marT="45720" marB="45720">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B9C8DE"/>
                    </a:solidFill>
                  </a:tcPr>
                </a:tc>
              </a:tr>
            </a:tbl>
          </a:graphicData>
        </a:graphic>
      </p:graphicFrame>
      <p:sp>
        <p:nvSpPr>
          <p:cNvPr id="6" name="card Done"/>
          <p:cNvSpPr/>
          <p:nvPr/>
        </p:nvSpPr>
        <p:spPr>
          <a:xfrm>
            <a:off x="457200" y="3749040"/>
            <a:ext cx="4023360" cy="822960"/>
          </a:xfrm>
          <a:prstGeom prst="roundRect">
            <a:avLst>
              <a:gd name="adj" fmla="val 8889"/>
            </a:avLst>
          </a:prstGeom>
          <a:solidFill>
            <a:schemeClr val="bg2"/>
          </a:solidFill>
          <a:ln w="9525">
            <a:solidFill>
              <a:schemeClr val="bg2"/>
            </a:solidFill>
            <a:prstDash val="solid"/>
          </a:ln>
        </p:spPr>
      </p:sp>
      <p:sp>
        <p:nvSpPr>
          <p:cNvPr id="7" name="card head"/>
          <p:cNvSpPr txBox="1"/>
          <p:nvPr/>
        </p:nvSpPr>
        <p:spPr>
          <a:xfrm>
            <a:off x="594360" y="3858768"/>
            <a:ext cx="3749040" cy="274320"/>
          </a:xfrm>
          <a:prstGeom prst="rect">
            <a:avLst/>
          </a:prstGeom>
          <a:noFill/>
          <a:ln/>
        </p:spPr>
        <p:txBody>
          <a:bodyPr wrap="square" lIns="0" tIns="0" rIns="0" bIns="0" rtlCol="0" anchor="ctr"/>
          <a:lstStyle/>
          <a:p>
            <a:pPr indent="0" marL="0">
              <a:buNone/>
            </a:pPr>
            <a:r>
              <a:rPr lang="en-US" sz="1300" b="1" dirty="0">
                <a:solidFill>
                  <a:schemeClr val="accent1"/>
                </a:solidFill>
              </a:rPr>
              <a:t>Done</a:t>
            </a:r>
            <a:endParaRPr lang="en-US" sz="1300" dirty="0"/>
          </a:p>
        </p:txBody>
      </p:sp>
      <p:sp>
        <p:nvSpPr>
          <p:cNvPr id="8" name="card body"/>
          <p:cNvSpPr txBox="1"/>
          <p:nvPr/>
        </p:nvSpPr>
        <p:spPr>
          <a:xfrm>
            <a:off x="594360" y="4160520"/>
            <a:ext cx="3749040" cy="320040"/>
          </a:xfrm>
          <a:prstGeom prst="rect">
            <a:avLst/>
          </a:prstGeom>
          <a:noFill/>
          <a:ln/>
        </p:spPr>
        <p:txBody>
          <a:bodyPr wrap="square" lIns="0" tIns="0" rIns="0" bIns="0" rtlCol="0" anchor="t"/>
          <a:lstStyle/>
          <a:p>
            <a:pPr indent="0" marL="0">
              <a:spcAft>
                <a:spcPts val="400"/>
              </a:spcAft>
              <a:buNone/>
            </a:pPr>
            <a:r>
              <a:rPr lang="en-US" sz="1100" dirty="0">
                <a:solidFill>
                  <a:schemeClr val="tx1"/>
                </a:solidFill>
              </a:rPr>
              <a:t>Benchmark, judging of ~1M pairs, B1/B2/H1-H3, relevance feedback and LLM re-ranking, geometric measurements.</a:t>
            </a:r>
            <a:endParaRPr lang="en-US" sz="1100" dirty="0"/>
          </a:p>
        </p:txBody>
      </p:sp>
      <p:sp>
        <p:nvSpPr>
          <p:cNvPr id="9" name="card Validation inside every phase"/>
          <p:cNvSpPr/>
          <p:nvPr/>
        </p:nvSpPr>
        <p:spPr>
          <a:xfrm>
            <a:off x="4663440" y="3749040"/>
            <a:ext cx="4023360" cy="822960"/>
          </a:xfrm>
          <a:prstGeom prst="roundRect">
            <a:avLst>
              <a:gd name="adj" fmla="val 8889"/>
            </a:avLst>
          </a:prstGeom>
          <a:solidFill>
            <a:srgbClr val="FBEFE3"/>
          </a:solidFill>
          <a:ln w="9525">
            <a:solidFill>
              <a:srgbClr val="FBEFE3"/>
            </a:solidFill>
            <a:prstDash val="solid"/>
          </a:ln>
        </p:spPr>
      </p:sp>
      <p:sp>
        <p:nvSpPr>
          <p:cNvPr id="10" name="card head"/>
          <p:cNvSpPr txBox="1"/>
          <p:nvPr/>
        </p:nvSpPr>
        <p:spPr>
          <a:xfrm>
            <a:off x="4800600" y="3858768"/>
            <a:ext cx="3749040" cy="274320"/>
          </a:xfrm>
          <a:prstGeom prst="rect">
            <a:avLst/>
          </a:prstGeom>
          <a:noFill/>
          <a:ln/>
        </p:spPr>
        <p:txBody>
          <a:bodyPr wrap="square" lIns="0" tIns="0" rIns="0" bIns="0" rtlCol="0" anchor="ctr"/>
          <a:lstStyle/>
          <a:p>
            <a:pPr indent="0" marL="0">
              <a:buNone/>
            </a:pPr>
            <a:r>
              <a:rPr lang="en-US" sz="1300" b="1" dirty="0">
                <a:solidFill>
                  <a:schemeClr val="accent2"/>
                </a:solidFill>
              </a:rPr>
              <a:t>Validation inside every phase</a:t>
            </a:r>
            <a:endParaRPr lang="en-US" sz="1300" dirty="0"/>
          </a:p>
        </p:txBody>
      </p:sp>
      <p:sp>
        <p:nvSpPr>
          <p:cNvPr id="11" name="card body"/>
          <p:cNvSpPr txBox="1"/>
          <p:nvPr/>
        </p:nvSpPr>
        <p:spPr>
          <a:xfrm>
            <a:off x="4800600" y="4160520"/>
            <a:ext cx="3749040" cy="320040"/>
          </a:xfrm>
          <a:prstGeom prst="rect">
            <a:avLst/>
          </a:prstGeom>
          <a:noFill/>
          <a:ln/>
        </p:spPr>
        <p:txBody>
          <a:bodyPr wrap="square" lIns="0" tIns="0" rIns="0" bIns="0" rtlCol="0" anchor="t"/>
          <a:lstStyle/>
          <a:p>
            <a:pPr indent="0" marL="0">
              <a:spcAft>
                <a:spcPts val="400"/>
              </a:spcAft>
              <a:buNone/>
            </a:pPr>
            <a:r>
              <a:rPr lang="en-US" sz="1100" dirty="0">
                <a:solidFill>
                  <a:schemeClr val="tx1"/>
                </a:solidFill>
              </a:rPr>
              <a:t>TREC-COVID and MS MARCO, so the conclusions are about retrievers, not one dataset.</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822960"/>
            <a:ext cx="7863840" cy="320040"/>
          </a:xfrm>
          <a:prstGeom prst="rect">
            <a:avLst/>
          </a:prstGeom>
          <a:noFill/>
          <a:ln/>
        </p:spPr>
        <p:txBody>
          <a:bodyPr wrap="square" lIns="0" tIns="0" rIns="0" bIns="0" rtlCol="0"/>
          <a:lstStyle/>
          <a:p>
            <a:pPr indent="0" marL="0">
              <a:buNone/>
            </a:pPr>
            <a:r>
              <a:rPr lang="en-US" sz="1200" b="1" spc="300" kern="0" dirty="0">
                <a:solidFill>
                  <a:schemeClr val="accent6"/>
                </a:solidFill>
              </a:rPr>
              <a:t>IN ONE SENTENCE</a:t>
            </a:r>
            <a:endParaRPr lang="en-US" sz="1200" dirty="0"/>
          </a:p>
        </p:txBody>
      </p:sp>
      <p:sp>
        <p:nvSpPr>
          <p:cNvPr id="3" name="Text 0"/>
          <p:cNvSpPr/>
          <p:nvPr>
            <p:ph idx="101" type="title" hasCustomPrompt="1"/>
          </p:nvPr>
        </p:nvSpPr>
        <p:spPr>
          <a:xfrm>
            <a:off x="640080" y="1097280"/>
            <a:ext cx="7680960" cy="1828800"/>
          </a:xfrm>
          <a:prstGeom prst="rect">
            <a:avLst/>
          </a:prstGeom>
          <a:noFill/>
          <a:ln/>
        </p:spPr>
        <p:txBody>
          <a:bodyPr wrap="square" lIns="0" tIns="0" rIns="0" bIns="0" rtlCol="0" anchor="t"/>
          <a:lstStyle/>
          <a:p>
            <a:pPr indent="0" marL="0">
              <a:buNone/>
            </a:pPr>
            <a:r>
              <a:rPr lang="en-US" sz="3400" b="1" dirty="0">
                <a:solidFill>
                  <a:schemeClr val="bg1"/>
                </a:solidFill>
              </a:rPr>
              <a:t>Questions land away from their answers. The search should start from where the answers are.</a:t>
            </a:r>
            <a:endParaRPr lang="en-US" sz="3400" dirty="0"/>
          </a:p>
        </p:txBody>
      </p:sp>
      <p:sp>
        <p:nvSpPr>
          <p:cNvPr id="4" name="Text 0"/>
          <p:cNvSpPr/>
          <p:nvPr>
            <p:ph idx="102" type="body" hasCustomPrompt="1"/>
          </p:nvPr>
        </p:nvSpPr>
        <p:spPr>
          <a:xfrm>
            <a:off x="640080" y="3154680"/>
            <a:ext cx="7680960" cy="1463040"/>
          </a:xfrm>
          <a:prstGeom prst="rect">
            <a:avLst/>
          </a:prstGeom>
          <a:noFill/>
          <a:ln/>
        </p:spPr>
        <p:txBody>
          <a:bodyPr wrap="square" lIns="0" tIns="0" rIns="0" bIns="0" rtlCol="0" anchor="t"/>
          <a:lstStyle/>
          <a:p>
            <a:pPr indent="0" marL="0">
              <a:buNone/>
            </a:pPr>
            <a:r>
              <a:rPr lang="en-US" sz="1500" dirty="0">
                <a:solidFill>
                  <a:schemeClr val="bg1"/>
                </a:solidFill>
              </a:rPr>
              <a:t>Measure the geometry, predict the failures, move the anchor by what the geometry says, and keep moving it where the retriever fails.</a:t>
            </a:r>
            <a:endParaRPr lang="en-US" sz="1600" dirty="0"/>
          </a:p>
          <a:p>
            <a:pPr indent="0" marL="0">
              <a:buNone/>
            </a:pPr>
            <a:r>
              <a:rPr lang="en-US" sz="800" dirty="0">
                <a:solidFill>
                  <a:schemeClr val="bg1"/>
                </a:solidFill>
              </a:rPr>
              <a:t> </a:t>
            </a:r>
            <a:endParaRPr lang="en-US" sz="1600" dirty="0"/>
          </a:p>
          <a:p>
            <a:pPr indent="0" marL="0">
              <a:buNone/>
            </a:pPr>
            <a:r>
              <a:rPr lang="en-US" sz="1200" dirty="0">
                <a:solidFill>
                  <a:srgbClr val="B9C4D6"/>
                </a:solidFill>
              </a:rPr>
              <a:t>Bar Mordechai Damri  ·  Supervisors: Prof. Roni Stern, Prof. Rami Puzis  ·  Ben-Gurion University of the Negev</a:t>
            </a:r>
            <a:endParaRPr lang="en-US" sz="1600" dirty="0"/>
          </a:p>
        </p:txBody>
      </p:sp>
    </p:spTree>
  </p:cSld>
  <p:clrMapOvr>
    <a:masterClrMapping/>
  </p:clrMapOvr>
</p:sld>
</file>

<file path=ppt/theme/theme1.xml><?xml version="1.0" encoding="utf-8"?>
<a:theme xmlns:a="http://schemas.openxmlformats.org/drawingml/2006/main" name="Geometric Heuristics">
  <a:themeElements>
    <a:clrScheme name="Geometric Heuristics">
      <a:dk1>
        <a:srgbClr val="1E2633"/>
      </a:dk1>
      <a:lt1>
        <a:srgbClr val="FFFFFF"/>
      </a:lt1>
      <a:dk2>
        <a:srgbClr val="1B3D6E"/>
      </a:dk2>
      <a:lt2>
        <a:srgbClr val="EEF2F8"/>
      </a:lt2>
      <a:accent1>
        <a:srgbClr val="1B3D6E"/>
      </a:accent1>
      <a:accent2>
        <a:srgbClr val="D9822B"/>
      </a:accent2>
      <a:accent3>
        <a:srgbClr val="2E8B7A"/>
      </a:accent3>
      <a:accent4>
        <a:srgbClr val="C0392B"/>
      </a:accent4>
      <a:accent5>
        <a:srgbClr val="6B7A90"/>
      </a:accent5>
      <a:accent6>
        <a:srgbClr val="C9A227"/>
      </a:accent6>
      <a:hlink>
        <a:srgbClr val="1B3D6E"/>
      </a:hlink>
      <a:folHlink>
        <a:srgbClr val="6B7A90"/>
      </a:folHlink>
    </a:clrScheme>
    <a:fontScheme name="Geometric Heuris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Embedding Geometric Heuristics for Improving RAG Systems</dc:title>
  <dc:subject>PptxGenJS Presentation</dc:subject>
  <dc:creator>Bar Mordechai Damri</dc:creator>
  <cp:lastModifiedBy>Bar Mordechai Damri</cp:lastModifiedBy>
  <cp:revision>1</cp:revision>
  <dcterms:created xsi:type="dcterms:W3CDTF">2026-10-28T07:22:55Z</dcterms:created>
  <dcterms:modified xsi:type="dcterms:W3CDTF">2026-10-28T07:22:55Z</dcterms:modified>
</cp:coreProperties>
</file>